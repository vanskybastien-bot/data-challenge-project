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Inter SemiBold"/>
      <p:regular r:id="rId21"/>
      <p:bold r:id="rId22"/>
      <p:italic r:id="rId23"/>
      <p:boldItalic r:id="rId24"/>
    </p:embeddedFont>
    <p:embeddedFont>
      <p:font typeface="Inter"/>
      <p:regular r:id="rId25"/>
      <p:bold r:id="rId26"/>
      <p:italic r:id="rId27"/>
      <p:boldItalic r:id="rId28"/>
    </p:embeddedFont>
    <p:embeddedFont>
      <p:font typeface="Oswald"/>
      <p:regular r:id="rId29"/>
      <p:bold r:id="rId30"/>
    </p:embeddedFont>
    <p:embeddedFont>
      <p:font typeface="Inter Medium"/>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D92E9AD-301D-4BE4-A85D-654F0F8D4CFA}">
  <a:tblStyle styleId="{6D92E9AD-301D-4BE4-A85D-654F0F8D4CF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InterSemiBold-bold.fntdata"/><Relationship Id="rId21" Type="http://schemas.openxmlformats.org/officeDocument/2006/relationships/font" Target="fonts/InterSemiBold-regular.fntdata"/><Relationship Id="rId24" Type="http://schemas.openxmlformats.org/officeDocument/2006/relationships/font" Target="fonts/InterSemiBold-boldItalic.fntdata"/><Relationship Id="rId23" Type="http://schemas.openxmlformats.org/officeDocument/2006/relationships/font" Target="fonts/InterSemi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bold.fntdata"/><Relationship Id="rId25" Type="http://schemas.openxmlformats.org/officeDocument/2006/relationships/font" Target="fonts/Inter-regular.fntdata"/><Relationship Id="rId28" Type="http://schemas.openxmlformats.org/officeDocument/2006/relationships/font" Target="fonts/Inter-boldItalic.fntdata"/><Relationship Id="rId27" Type="http://schemas.openxmlformats.org/officeDocument/2006/relationships/font" Target="fonts/Inter-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Oswald-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terMedium-regular.fntdata"/><Relationship Id="rId30" Type="http://schemas.openxmlformats.org/officeDocument/2006/relationships/font" Target="fonts/Oswald-bold.fntdata"/><Relationship Id="rId11" Type="http://schemas.openxmlformats.org/officeDocument/2006/relationships/slide" Target="slides/slide5.xml"/><Relationship Id="rId33" Type="http://schemas.openxmlformats.org/officeDocument/2006/relationships/font" Target="fonts/InterMedium-italic.fntdata"/><Relationship Id="rId10" Type="http://schemas.openxmlformats.org/officeDocument/2006/relationships/slide" Target="slides/slide4.xml"/><Relationship Id="rId32" Type="http://schemas.openxmlformats.org/officeDocument/2006/relationships/font" Target="fonts/InterMedium-bold.fntdata"/><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font" Target="fonts/InterMedium-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680921d5d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d680921d5d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d680921d5d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d680921d5d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680921d5d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d680921d5d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d685179acd_9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d685179acd_9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d685179acd_9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d685179acd_9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d680921d5d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d680921d5d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d680921d5d_0_1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d680921d5d_0_1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d680921d5d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d680921d5d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d680921d5d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d680921d5d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d680921d5d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d680921d5d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d680921d5d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d680921d5d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d691e7e9c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d691e7e9c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d680921d5d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d680921d5d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g3d680921d5d_6_0)">
  <p:cSld name="Title slide (g3d680921d5d_6_0)">
    <p:spTree>
      <p:nvGrpSpPr>
        <p:cNvPr id="50" name="Shape 50"/>
        <p:cNvGrpSpPr/>
        <p:nvPr/>
      </p:nvGrpSpPr>
      <p:grpSpPr>
        <a:xfrm>
          <a:off x="0" y="0"/>
          <a:ext cx="0" cy="0"/>
          <a:chOff x="0" y="0"/>
          <a:chExt cx="0" cy="0"/>
        </a:xfrm>
      </p:grpSpPr>
      <p:sp>
        <p:nvSpPr>
          <p:cNvPr id="51" name="Google Shape;51;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2" name="Google Shape;52;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3" name="Google Shape;53;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d680921d5d_14_0)">
  <p:cSld name="Title and body (g3d680921d5d_14_0)">
    <p:spTree>
      <p:nvGrpSpPr>
        <p:cNvPr id="54" name="Shape 54"/>
        <p:cNvGrpSpPr/>
        <p:nvPr/>
      </p:nvGrpSpPr>
      <p:grpSpPr>
        <a:xfrm>
          <a:off x="0" y="0"/>
          <a:ext cx="0" cy="0"/>
          <a:chOff x="0" y="0"/>
          <a:chExt cx="0" cy="0"/>
        </a:xfrm>
      </p:grpSpPr>
      <p:sp>
        <p:nvSpPr>
          <p:cNvPr id="55" name="Google Shape;55;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6" name="Google Shape;5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d680921d5d_22_0)">
  <p:cSld name="Title and body (g3d680921d5d_22_0)">
    <p:spTree>
      <p:nvGrpSpPr>
        <p:cNvPr id="58" name="Shape 58"/>
        <p:cNvGrpSpPr/>
        <p:nvPr/>
      </p:nvGrpSpPr>
      <p:grpSpPr>
        <a:xfrm>
          <a:off x="0" y="0"/>
          <a:ext cx="0" cy="0"/>
          <a:chOff x="0" y="0"/>
          <a:chExt cx="0" cy="0"/>
        </a:xfrm>
      </p:grpSpPr>
      <p:sp>
        <p:nvSpPr>
          <p:cNvPr id="59" name="Google Shape;59;p1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0" name="Google Shape;60;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1" name="Google Shape;61;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d680921d5d_29_0)">
  <p:cSld name="Title and body (g3d680921d5d_29_0)">
    <p:spTree>
      <p:nvGrpSpPr>
        <p:cNvPr id="62" name="Shape 62"/>
        <p:cNvGrpSpPr/>
        <p:nvPr/>
      </p:nvGrpSpPr>
      <p:grpSpPr>
        <a:xfrm>
          <a:off x="0" y="0"/>
          <a:ext cx="0" cy="0"/>
          <a:chOff x="0" y="0"/>
          <a:chExt cx="0" cy="0"/>
        </a:xfrm>
      </p:grpSpPr>
      <p:sp>
        <p:nvSpPr>
          <p:cNvPr id="63" name="Google Shape;63;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4" name="Google Shape;6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5" name="Google Shape;65;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d680921d5d_68_0)">
  <p:cSld name="Title and body (g3d680921d5d_68_0)">
    <p:spTree>
      <p:nvGrpSpPr>
        <p:cNvPr id="66" name="Shape 66"/>
        <p:cNvGrpSpPr/>
        <p:nvPr/>
      </p:nvGrpSpPr>
      <p:grpSpPr>
        <a:xfrm>
          <a:off x="0" y="0"/>
          <a:ext cx="0" cy="0"/>
          <a:chOff x="0" y="0"/>
          <a:chExt cx="0" cy="0"/>
        </a:xfrm>
      </p:grpSpPr>
      <p:sp>
        <p:nvSpPr>
          <p:cNvPr id="67" name="Google Shape;67;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8" name="Google Shape;68;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d680921d5d_92_0)">
  <p:cSld name="Title and body (g3d680921d5d_92_0)">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3" name="Google Shape;73;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7" name="Shape 77"/>
        <p:cNvGrpSpPr/>
        <p:nvPr/>
      </p:nvGrpSpPr>
      <p:grpSpPr>
        <a:xfrm>
          <a:off x="0" y="0"/>
          <a:ext cx="0" cy="0"/>
          <a:chOff x="0" y="0"/>
          <a:chExt cx="0" cy="0"/>
        </a:xfrm>
      </p:grpSpPr>
      <p:grpSp>
        <p:nvGrpSpPr>
          <p:cNvPr id="78" name="Google Shape;78;p19"/>
          <p:cNvGrpSpPr/>
          <p:nvPr/>
        </p:nvGrpSpPr>
        <p:grpSpPr>
          <a:xfrm>
            <a:off x="0" y="-285750"/>
            <a:ext cx="9239250" cy="5334000"/>
            <a:chOff x="0" y="-285750"/>
            <a:chExt cx="9239250" cy="5334000"/>
          </a:xfrm>
        </p:grpSpPr>
        <p:sp>
          <p:nvSpPr>
            <p:cNvPr id="79" name="Google Shape;79;p19"/>
            <p:cNvSpPr/>
            <p:nvPr/>
          </p:nvSpPr>
          <p:spPr>
            <a:xfrm>
              <a:off x="0" y="0"/>
              <a:ext cx="9144000" cy="1714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80" name="Google Shape;80;p19"/>
            <p:cNvPicPr preferRelativeResize="0"/>
            <p:nvPr/>
          </p:nvPicPr>
          <p:blipFill rotWithShape="1">
            <a:blip r:embed="rId4">
              <a:alphaModFix/>
            </a:blip>
            <a:srcRect b="0" l="0" r="0" t="0"/>
            <a:stretch/>
          </p:blipFill>
          <p:spPr>
            <a:xfrm>
              <a:off x="0" y="1524000"/>
              <a:ext cx="9144000" cy="190500"/>
            </a:xfrm>
            <a:prstGeom prst="rect">
              <a:avLst/>
            </a:prstGeom>
            <a:noFill/>
            <a:ln>
              <a:noFill/>
            </a:ln>
          </p:spPr>
        </p:pic>
        <p:sp>
          <p:nvSpPr>
            <p:cNvPr id="81" name="Google Shape;81;p19"/>
            <p:cNvSpPr/>
            <p:nvPr/>
          </p:nvSpPr>
          <p:spPr>
            <a:xfrm>
              <a:off x="6953250" y="-285750"/>
              <a:ext cx="2286000" cy="2286000"/>
            </a:xfrm>
            <a:prstGeom prst="ellipse">
              <a:avLst/>
            </a:prstGeom>
            <a:solidFill>
              <a:srgbClr val="E2E8F0">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 name="Google Shape;82;p19"/>
            <p:cNvSpPr/>
            <p:nvPr/>
          </p:nvSpPr>
          <p:spPr>
            <a:xfrm>
              <a:off x="190500" y="3524250"/>
              <a:ext cx="1524000" cy="1524000"/>
            </a:xfrm>
            <a:prstGeom prst="ellipse">
              <a:avLst/>
            </a:prstGeom>
            <a:solidFill>
              <a:srgbClr val="F1F5F9">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3" name="Google Shape;83;p19"/>
          <p:cNvSpPr txBox="1"/>
          <p:nvPr/>
        </p:nvSpPr>
        <p:spPr>
          <a:xfrm>
            <a:off x="571500" y="571500"/>
            <a:ext cx="8001000" cy="1333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4185">
                <a:solidFill>
                  <a:srgbClr val="0F172A"/>
                </a:solidFill>
                <a:latin typeface="Oswald"/>
                <a:ea typeface="Oswald"/>
                <a:cs typeface="Oswald"/>
                <a:sym typeface="Oswald"/>
              </a:rPr>
              <a:t>Global Student Placement</a:t>
            </a:r>
            <a:br>
              <a:rPr lang="en" sz="4185">
                <a:solidFill>
                  <a:srgbClr val="0F172A"/>
                </a:solidFill>
                <a:latin typeface="Oswald"/>
                <a:ea typeface="Oswald"/>
                <a:cs typeface="Oswald"/>
                <a:sym typeface="Oswald"/>
              </a:rPr>
            </a:br>
            <a:r>
              <a:rPr lang="en" sz="4185">
                <a:solidFill>
                  <a:srgbClr val="2563EB"/>
                </a:solidFill>
                <a:latin typeface="Oswald"/>
                <a:ea typeface="Oswald"/>
                <a:cs typeface="Oswald"/>
                <a:sym typeface="Oswald"/>
              </a:rPr>
              <a:t>Data Challenge</a:t>
            </a:r>
            <a:endParaRPr sz="4185">
              <a:solidFill>
                <a:srgbClr val="0F172A"/>
              </a:solidFill>
              <a:latin typeface="Oswald"/>
              <a:ea typeface="Oswald"/>
              <a:cs typeface="Oswald"/>
              <a:sym typeface="Oswald"/>
            </a:endParaRPr>
          </a:p>
        </p:txBody>
      </p:sp>
      <p:grpSp>
        <p:nvGrpSpPr>
          <p:cNvPr id="84" name="Google Shape;84;p19"/>
          <p:cNvGrpSpPr/>
          <p:nvPr/>
        </p:nvGrpSpPr>
        <p:grpSpPr>
          <a:xfrm>
            <a:off x="952500" y="2000250"/>
            <a:ext cx="7239000" cy="1000125"/>
            <a:chOff x="952500" y="2000250"/>
            <a:chExt cx="7239000" cy="1000125"/>
          </a:xfrm>
        </p:grpSpPr>
        <p:sp>
          <p:nvSpPr>
            <p:cNvPr id="85" name="Google Shape;85;p19"/>
            <p:cNvSpPr/>
            <p:nvPr/>
          </p:nvSpPr>
          <p:spPr>
            <a:xfrm>
              <a:off x="3143250" y="2000250"/>
              <a:ext cx="2857500" cy="381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 name="Google Shape;86;p19"/>
            <p:cNvSpPr txBox="1"/>
            <p:nvPr/>
          </p:nvSpPr>
          <p:spPr>
            <a:xfrm>
              <a:off x="952500" y="2238375"/>
              <a:ext cx="7239000" cy="762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i="1" lang="en" sz="2000">
                  <a:solidFill>
                    <a:srgbClr val="475569"/>
                  </a:solidFill>
                  <a:latin typeface="Inter"/>
                  <a:ea typeface="Inter"/>
                  <a:cs typeface="Inter"/>
                  <a:sym typeface="Inter"/>
                </a:rPr>
                <a:t>Predicting Starting Salaries through Economics, Industry, and Merit</a:t>
              </a:r>
              <a:endParaRPr b="0" i="1" sz="2000">
                <a:solidFill>
                  <a:srgbClr val="475569"/>
                </a:solidFill>
                <a:latin typeface="Inter"/>
                <a:ea typeface="Inter"/>
                <a:cs typeface="Inter"/>
                <a:sym typeface="Inter"/>
              </a:endParaRPr>
            </a:p>
          </p:txBody>
        </p:sp>
      </p:grpSp>
      <p:grpSp>
        <p:nvGrpSpPr>
          <p:cNvPr id="87" name="Google Shape;87;p19"/>
          <p:cNvGrpSpPr/>
          <p:nvPr/>
        </p:nvGrpSpPr>
        <p:grpSpPr>
          <a:xfrm>
            <a:off x="2667000" y="3619500"/>
            <a:ext cx="3810000" cy="762000"/>
            <a:chOff x="2667000" y="3619500"/>
            <a:chExt cx="3810000" cy="762000"/>
          </a:xfrm>
        </p:grpSpPr>
        <p:sp>
          <p:nvSpPr>
            <p:cNvPr id="88" name="Google Shape;88;p19"/>
            <p:cNvSpPr/>
            <p:nvPr/>
          </p:nvSpPr>
          <p:spPr>
            <a:xfrm>
              <a:off x="2667000" y="3619500"/>
              <a:ext cx="3810000" cy="762000"/>
            </a:xfrm>
            <a:prstGeom prst="roundRect">
              <a:avLst>
                <a:gd fmla="val 5000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 name="Google Shape;89;p19"/>
            <p:cNvSpPr txBox="1"/>
            <p:nvPr/>
          </p:nvSpPr>
          <p:spPr>
            <a:xfrm>
              <a:off x="2667000" y="3619500"/>
              <a:ext cx="3810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400">
                  <a:solidFill>
                    <a:srgbClr val="64748B"/>
                  </a:solidFill>
                  <a:latin typeface="Inter SemiBold"/>
                  <a:ea typeface="Inter SemiBold"/>
                  <a:cs typeface="Inter SemiBold"/>
                  <a:sym typeface="Inter SemiBold"/>
                </a:rPr>
                <a:t>Presenters</a:t>
              </a:r>
              <a:endParaRPr b="0" sz="1400">
                <a:solidFill>
                  <a:srgbClr val="64748B"/>
                </a:solidFill>
                <a:latin typeface="Inter SemiBold"/>
                <a:ea typeface="Inter SemiBold"/>
                <a:cs typeface="Inter SemiBold"/>
                <a:sym typeface="Inter SemiBold"/>
              </a:endParaRPr>
            </a:p>
            <a:p>
              <a:pPr indent="0" lvl="0" marL="0" rtl="0" algn="ctr">
                <a:spcBef>
                  <a:spcPts val="0"/>
                </a:spcBef>
                <a:spcAft>
                  <a:spcPts val="0"/>
                </a:spcAft>
                <a:buNone/>
              </a:pPr>
              <a:r>
                <a:rPr b="0" lang="en" sz="1800">
                  <a:solidFill>
                    <a:srgbClr val="1E293B"/>
                  </a:solidFill>
                  <a:latin typeface="Inter Medium"/>
                  <a:ea typeface="Inter Medium"/>
                  <a:cs typeface="Inter Medium"/>
                  <a:sym typeface="Inter Medium"/>
                </a:rPr>
                <a:t>Vansky Bastien &amp; Yoel Daniel</a:t>
              </a:r>
              <a:endParaRPr b="0" sz="1800">
                <a:solidFill>
                  <a:srgbClr val="1E293B"/>
                </a:solidFill>
                <a:latin typeface="Inter Medium"/>
                <a:ea typeface="Inter Medium"/>
                <a:cs typeface="Inter Medium"/>
                <a:sym typeface="Inter Medium"/>
              </a:endParaRPr>
            </a:p>
          </p:txBody>
        </p:sp>
      </p:grpSp>
      <p:sp>
        <p:nvSpPr>
          <p:cNvPr id="90" name="Google Shape;90;p19"/>
          <p:cNvSpPr txBox="1"/>
          <p:nvPr/>
        </p:nvSpPr>
        <p:spPr>
          <a:xfrm>
            <a:off x="4333875" y="3189986"/>
            <a:ext cx="4764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960">
                <a:solidFill>
                  <a:srgbClr val="94A3B8"/>
                </a:solidFill>
                <a:latin typeface="Material Icons"/>
                <a:ea typeface="Material Icons"/>
                <a:cs typeface="Material Icons"/>
                <a:sym typeface="Material Icons"/>
              </a:rPr>
              <a:t>groups</a:t>
            </a:r>
            <a:endParaRPr sz="2960">
              <a:solidFill>
                <a:srgbClr val="94A3B8"/>
              </a:solidFill>
              <a:latin typeface="Material Icons"/>
              <a:ea typeface="Material Icons"/>
              <a:cs typeface="Material Icons"/>
              <a:sym typeface="Material Ico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grpSp>
        <p:nvGrpSpPr>
          <p:cNvPr id="95" name="Google Shape;95;p20"/>
          <p:cNvGrpSpPr/>
          <p:nvPr/>
        </p:nvGrpSpPr>
        <p:grpSpPr>
          <a:xfrm>
            <a:off x="0" y="0"/>
            <a:ext cx="9144000" cy="952500"/>
            <a:chOff x="0" y="0"/>
            <a:chExt cx="9144000" cy="952500"/>
          </a:xfrm>
        </p:grpSpPr>
        <p:sp>
          <p:nvSpPr>
            <p:cNvPr id="96" name="Google Shape;96;p20"/>
            <p:cNvSpPr/>
            <p:nvPr/>
          </p:nvSpPr>
          <p:spPr>
            <a:xfrm>
              <a:off x="0" y="0"/>
              <a:ext cx="9144000" cy="9525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20"/>
            <p:cNvSpPr txBox="1"/>
            <p:nvPr/>
          </p:nvSpPr>
          <p:spPr>
            <a:xfrm>
              <a:off x="381000" y="0"/>
              <a:ext cx="8382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200">
                  <a:solidFill>
                    <a:srgbClr val="FFFFFF"/>
                  </a:solidFill>
                  <a:latin typeface="Inter"/>
                  <a:ea typeface="Inter"/>
                  <a:cs typeface="Inter"/>
                  <a:sym typeface="Inter"/>
                </a:rPr>
                <a:t>Research Questions</a:t>
              </a:r>
              <a:endParaRPr b="1" sz="3200">
                <a:solidFill>
                  <a:srgbClr val="FFFFFF"/>
                </a:solidFill>
                <a:latin typeface="Inter"/>
                <a:ea typeface="Inter"/>
                <a:cs typeface="Inter"/>
                <a:sym typeface="Inter"/>
              </a:endParaRPr>
            </a:p>
          </p:txBody>
        </p:sp>
      </p:grpSp>
      <p:grpSp>
        <p:nvGrpSpPr>
          <p:cNvPr id="98" name="Google Shape;98;p20"/>
          <p:cNvGrpSpPr/>
          <p:nvPr/>
        </p:nvGrpSpPr>
        <p:grpSpPr>
          <a:xfrm>
            <a:off x="381000" y="1333500"/>
            <a:ext cx="8382000" cy="1524000"/>
            <a:chOff x="381000" y="1333500"/>
            <a:chExt cx="8382000" cy="1524000"/>
          </a:xfrm>
        </p:grpSpPr>
        <p:sp>
          <p:nvSpPr>
            <p:cNvPr id="99" name="Google Shape;99;p20"/>
            <p:cNvSpPr/>
            <p:nvPr/>
          </p:nvSpPr>
          <p:spPr>
            <a:xfrm>
              <a:off x="381000" y="1333500"/>
              <a:ext cx="8382000" cy="1524000"/>
            </a:xfrm>
            <a:prstGeom prst="roundRect">
              <a:avLst>
                <a:gd fmla="val 7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20"/>
            <p:cNvSpPr txBox="1"/>
            <p:nvPr/>
          </p:nvSpPr>
          <p:spPr>
            <a:xfrm>
              <a:off x="666750" y="157657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3600">
                  <a:solidFill>
                    <a:srgbClr val="3B82F6"/>
                  </a:solidFill>
                  <a:latin typeface="Material Icons"/>
                  <a:ea typeface="Material Icons"/>
                  <a:cs typeface="Material Icons"/>
                  <a:sym typeface="Material Icons"/>
                </a:rPr>
                <a:t>analytics</a:t>
              </a:r>
              <a:endParaRPr sz="3600">
                <a:solidFill>
                  <a:srgbClr val="3B82F6"/>
                </a:solidFill>
                <a:latin typeface="Material Icons"/>
                <a:ea typeface="Material Icons"/>
                <a:cs typeface="Material Icons"/>
                <a:sym typeface="Material Icons"/>
              </a:endParaRPr>
            </a:p>
          </p:txBody>
        </p:sp>
        <p:sp>
          <p:nvSpPr>
            <p:cNvPr id="101" name="Google Shape;101;p20"/>
            <p:cNvSpPr txBox="1"/>
            <p:nvPr/>
          </p:nvSpPr>
          <p:spPr>
            <a:xfrm>
              <a:off x="1428750" y="1333500"/>
              <a:ext cx="7048500" cy="1524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800">
                  <a:solidFill>
                    <a:srgbClr val="1E293B"/>
                  </a:solidFill>
                  <a:latin typeface="Inter SemiBold"/>
                  <a:ea typeface="Inter SemiBold"/>
                  <a:cs typeface="Inter SemiBold"/>
                  <a:sym typeface="Inter SemiBold"/>
                </a:rPr>
                <a:t>Can a student's total assessment score, their home country's GDP, and their chosen industry predict their starting salary?</a:t>
              </a:r>
              <a:endParaRPr b="0" sz="1800">
                <a:solidFill>
                  <a:srgbClr val="1E293B"/>
                </a:solidFill>
                <a:latin typeface="Inter SemiBold"/>
                <a:ea typeface="Inter SemiBold"/>
                <a:cs typeface="Inter SemiBold"/>
                <a:sym typeface="Inter SemiBold"/>
              </a:endParaRPr>
            </a:p>
          </p:txBody>
        </p:sp>
      </p:grpSp>
      <p:grpSp>
        <p:nvGrpSpPr>
          <p:cNvPr id="102" name="Google Shape;102;p20"/>
          <p:cNvGrpSpPr/>
          <p:nvPr/>
        </p:nvGrpSpPr>
        <p:grpSpPr>
          <a:xfrm>
            <a:off x="381000" y="3048000"/>
            <a:ext cx="8382000" cy="1524000"/>
            <a:chOff x="381000" y="3048000"/>
            <a:chExt cx="8382000" cy="1524000"/>
          </a:xfrm>
        </p:grpSpPr>
        <p:sp>
          <p:nvSpPr>
            <p:cNvPr id="103" name="Google Shape;103;p20"/>
            <p:cNvSpPr/>
            <p:nvPr/>
          </p:nvSpPr>
          <p:spPr>
            <a:xfrm>
              <a:off x="381000" y="3048000"/>
              <a:ext cx="8382000" cy="1524000"/>
            </a:xfrm>
            <a:prstGeom prst="roundRect">
              <a:avLst>
                <a:gd fmla="val 7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 name="Google Shape;104;p20"/>
            <p:cNvSpPr txBox="1"/>
            <p:nvPr/>
          </p:nvSpPr>
          <p:spPr>
            <a:xfrm>
              <a:off x="666750" y="329107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3600">
                  <a:solidFill>
                    <a:srgbClr val="10B981"/>
                  </a:solidFill>
                  <a:latin typeface="Material Icons"/>
                  <a:ea typeface="Material Icons"/>
                  <a:cs typeface="Material Icons"/>
                  <a:sym typeface="Material Icons"/>
                </a:rPr>
                <a:t>public</a:t>
              </a:r>
              <a:endParaRPr sz="3600">
                <a:solidFill>
                  <a:srgbClr val="10B981"/>
                </a:solidFill>
                <a:latin typeface="Material Icons"/>
                <a:ea typeface="Material Icons"/>
                <a:cs typeface="Material Icons"/>
                <a:sym typeface="Material Icons"/>
              </a:endParaRPr>
            </a:p>
          </p:txBody>
        </p:sp>
        <p:sp>
          <p:nvSpPr>
            <p:cNvPr id="105" name="Google Shape;105;p20"/>
            <p:cNvSpPr txBox="1"/>
            <p:nvPr/>
          </p:nvSpPr>
          <p:spPr>
            <a:xfrm>
              <a:off x="1428750" y="3048000"/>
              <a:ext cx="7048500" cy="1524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800">
                  <a:solidFill>
                    <a:srgbClr val="1E293B"/>
                  </a:solidFill>
                  <a:latin typeface="Inter SemiBold"/>
                  <a:ea typeface="Inter SemiBold"/>
                  <a:cs typeface="Inter SemiBold"/>
                  <a:sym typeface="Inter SemiBold"/>
                </a:rPr>
                <a:t>Do students from high-income nations have a significantly higher placement rate compared to standard-income nations?</a:t>
              </a:r>
              <a:endParaRPr b="0" sz="1800">
                <a:solidFill>
                  <a:srgbClr val="1E293B"/>
                </a:solidFill>
                <a:latin typeface="Inter SemiBold"/>
                <a:ea typeface="Inter SemiBold"/>
                <a:cs typeface="Inter SemiBold"/>
                <a:sym typeface="Inter SemiBold"/>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grpSp>
        <p:nvGrpSpPr>
          <p:cNvPr id="110" name="Google Shape;110;p21"/>
          <p:cNvGrpSpPr/>
          <p:nvPr/>
        </p:nvGrpSpPr>
        <p:grpSpPr>
          <a:xfrm>
            <a:off x="0" y="0"/>
            <a:ext cx="9144000" cy="952500"/>
            <a:chOff x="0" y="0"/>
            <a:chExt cx="9144000" cy="952500"/>
          </a:xfrm>
        </p:grpSpPr>
        <p:sp>
          <p:nvSpPr>
            <p:cNvPr id="111" name="Google Shape;111;p21"/>
            <p:cNvSpPr/>
            <p:nvPr/>
          </p:nvSpPr>
          <p:spPr>
            <a:xfrm>
              <a:off x="0" y="0"/>
              <a:ext cx="9144000" cy="9525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21"/>
            <p:cNvSpPr txBox="1"/>
            <p:nvPr/>
          </p:nvSpPr>
          <p:spPr>
            <a:xfrm>
              <a:off x="381000" y="0"/>
              <a:ext cx="8382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200">
                  <a:solidFill>
                    <a:srgbClr val="FFFFFF"/>
                  </a:solidFill>
                  <a:latin typeface="Inter"/>
                  <a:ea typeface="Inter"/>
                  <a:cs typeface="Inter"/>
                  <a:sym typeface="Inter"/>
                </a:rPr>
                <a:t>Data Sources</a:t>
              </a:r>
              <a:endParaRPr b="1" sz="3200">
                <a:solidFill>
                  <a:srgbClr val="FFFFFF"/>
                </a:solidFill>
                <a:latin typeface="Inter"/>
                <a:ea typeface="Inter"/>
                <a:cs typeface="Inter"/>
                <a:sym typeface="Inter"/>
              </a:endParaRPr>
            </a:p>
          </p:txBody>
        </p:sp>
      </p:grpSp>
      <p:grpSp>
        <p:nvGrpSpPr>
          <p:cNvPr id="113" name="Google Shape;113;p21"/>
          <p:cNvGrpSpPr/>
          <p:nvPr/>
        </p:nvGrpSpPr>
        <p:grpSpPr>
          <a:xfrm>
            <a:off x="381000" y="1238250"/>
            <a:ext cx="8382000" cy="1047900"/>
            <a:chOff x="381000" y="1238250"/>
            <a:chExt cx="8382000" cy="1047900"/>
          </a:xfrm>
        </p:grpSpPr>
        <p:sp>
          <p:nvSpPr>
            <p:cNvPr id="114" name="Google Shape;114;p21"/>
            <p:cNvSpPr/>
            <p:nvPr/>
          </p:nvSpPr>
          <p:spPr>
            <a:xfrm>
              <a:off x="381000" y="1238250"/>
              <a:ext cx="8382000" cy="1047900"/>
            </a:xfrm>
            <a:prstGeom prst="roundRect">
              <a:avLst>
                <a:gd fmla="val 1090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p21"/>
            <p:cNvSpPr txBox="1"/>
            <p:nvPr/>
          </p:nvSpPr>
          <p:spPr>
            <a:xfrm>
              <a:off x="571500" y="1433703"/>
              <a:ext cx="5715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3600">
                  <a:solidFill>
                    <a:srgbClr val="3B82F6"/>
                  </a:solidFill>
                  <a:latin typeface="Material Icons"/>
                  <a:ea typeface="Material Icons"/>
                  <a:cs typeface="Material Icons"/>
                  <a:sym typeface="Material Icons"/>
                </a:rPr>
                <a:t>storage</a:t>
              </a:r>
              <a:endParaRPr sz="3600">
                <a:solidFill>
                  <a:srgbClr val="3B82F6"/>
                </a:solidFill>
                <a:latin typeface="Material Icons"/>
                <a:ea typeface="Material Icons"/>
                <a:cs typeface="Material Icons"/>
                <a:sym typeface="Material Icons"/>
              </a:endParaRPr>
            </a:p>
          </p:txBody>
        </p:sp>
        <p:sp>
          <p:nvSpPr>
            <p:cNvPr id="116" name="Google Shape;116;p21"/>
            <p:cNvSpPr txBox="1"/>
            <p:nvPr/>
          </p:nvSpPr>
          <p:spPr>
            <a:xfrm>
              <a:off x="1333500" y="1238250"/>
              <a:ext cx="72390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1E293B"/>
                  </a:solidFill>
                  <a:latin typeface="Inter"/>
                  <a:ea typeface="Inter"/>
                  <a:cs typeface="Inter"/>
                  <a:sym typeface="Inter"/>
                </a:rPr>
                <a:t>Primary Fact Table</a:t>
              </a:r>
              <a:endParaRPr b="1" sz="1600">
                <a:solidFill>
                  <a:srgbClr val="1E293B"/>
                </a:solidFill>
                <a:latin typeface="Inter"/>
                <a:ea typeface="Inter"/>
                <a:cs typeface="Inter"/>
                <a:sym typeface="Inter"/>
              </a:endParaRPr>
            </a:p>
            <a:p>
              <a:pPr indent="0" lvl="0" marL="0" rtl="0" algn="l">
                <a:spcBef>
                  <a:spcPts val="300"/>
                </a:spcBef>
                <a:spcAft>
                  <a:spcPts val="0"/>
                </a:spcAft>
                <a:buNone/>
              </a:pPr>
              <a:r>
                <a:rPr b="0" lang="en" sz="1300">
                  <a:solidFill>
                    <a:srgbClr val="475569"/>
                  </a:solidFill>
                  <a:latin typeface="Inter"/>
                  <a:ea typeface="Inter"/>
                  <a:cs typeface="Inter"/>
                  <a:sym typeface="Inter"/>
                </a:rPr>
                <a:t>Global Placement Dataset (10,000 student records detailing academics, industry, and starting salary).</a:t>
              </a:r>
              <a:endParaRPr b="0" sz="1300">
                <a:solidFill>
                  <a:srgbClr val="475569"/>
                </a:solidFill>
                <a:latin typeface="Inter"/>
                <a:ea typeface="Inter"/>
                <a:cs typeface="Inter"/>
                <a:sym typeface="Inter"/>
              </a:endParaRPr>
            </a:p>
          </p:txBody>
        </p:sp>
      </p:grpSp>
      <p:grpSp>
        <p:nvGrpSpPr>
          <p:cNvPr id="117" name="Google Shape;117;p21"/>
          <p:cNvGrpSpPr/>
          <p:nvPr/>
        </p:nvGrpSpPr>
        <p:grpSpPr>
          <a:xfrm>
            <a:off x="381000" y="2428875"/>
            <a:ext cx="8382000" cy="952500"/>
            <a:chOff x="381000" y="2428875"/>
            <a:chExt cx="8382000" cy="952500"/>
          </a:xfrm>
        </p:grpSpPr>
        <p:sp>
          <p:nvSpPr>
            <p:cNvPr id="118" name="Google Shape;118;p21"/>
            <p:cNvSpPr/>
            <p:nvPr/>
          </p:nvSpPr>
          <p:spPr>
            <a:xfrm>
              <a:off x="381000" y="2428875"/>
              <a:ext cx="8382000" cy="952500"/>
            </a:xfrm>
            <a:prstGeom prst="roundRect">
              <a:avLst>
                <a:gd fmla="val 12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21"/>
            <p:cNvSpPr txBox="1"/>
            <p:nvPr/>
          </p:nvSpPr>
          <p:spPr>
            <a:xfrm>
              <a:off x="571500" y="2576703"/>
              <a:ext cx="5715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3600">
                  <a:solidFill>
                    <a:srgbClr val="10B981"/>
                  </a:solidFill>
                  <a:latin typeface="Material Icons"/>
                  <a:ea typeface="Material Icons"/>
                  <a:cs typeface="Material Icons"/>
                  <a:sym typeface="Material Icons"/>
                </a:rPr>
                <a:t>public</a:t>
              </a:r>
              <a:endParaRPr sz="3600">
                <a:solidFill>
                  <a:srgbClr val="10B981"/>
                </a:solidFill>
                <a:latin typeface="Material Icons"/>
                <a:ea typeface="Material Icons"/>
                <a:cs typeface="Material Icons"/>
                <a:sym typeface="Material Icons"/>
              </a:endParaRPr>
            </a:p>
          </p:txBody>
        </p:sp>
        <p:sp>
          <p:nvSpPr>
            <p:cNvPr id="120" name="Google Shape;120;p21"/>
            <p:cNvSpPr txBox="1"/>
            <p:nvPr/>
          </p:nvSpPr>
          <p:spPr>
            <a:xfrm>
              <a:off x="1333500" y="2428875"/>
              <a:ext cx="7239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1E293B"/>
                  </a:solidFill>
                  <a:latin typeface="Inter"/>
                  <a:ea typeface="Inter"/>
                  <a:cs typeface="Inter"/>
                  <a:sym typeface="Inter"/>
                </a:rPr>
                <a:t>Dimension Table 1</a:t>
              </a:r>
              <a:endParaRPr b="1" sz="1600">
                <a:solidFill>
                  <a:srgbClr val="1E293B"/>
                </a:solidFill>
                <a:latin typeface="Inter"/>
                <a:ea typeface="Inter"/>
                <a:cs typeface="Inter"/>
                <a:sym typeface="Inter"/>
              </a:endParaRPr>
            </a:p>
            <a:p>
              <a:pPr indent="0" lvl="0" marL="0" rtl="0" algn="l">
                <a:spcBef>
                  <a:spcPts val="300"/>
                </a:spcBef>
                <a:spcAft>
                  <a:spcPts val="0"/>
                </a:spcAft>
                <a:buNone/>
              </a:pPr>
              <a:r>
                <a:rPr b="0" lang="en" sz="1300">
                  <a:solidFill>
                    <a:srgbClr val="475569"/>
                  </a:solidFill>
                  <a:latin typeface="Inter"/>
                  <a:ea typeface="Inter"/>
                  <a:cs typeface="Inter"/>
                  <a:sym typeface="Inter"/>
                </a:rPr>
                <a:t>Country GDP (Macroeconomic indicators for sovereign nations).</a:t>
              </a:r>
              <a:endParaRPr b="0" sz="1300">
                <a:solidFill>
                  <a:srgbClr val="475569"/>
                </a:solidFill>
                <a:latin typeface="Inter"/>
                <a:ea typeface="Inter"/>
                <a:cs typeface="Inter"/>
                <a:sym typeface="Inter"/>
              </a:endParaRPr>
            </a:p>
          </p:txBody>
        </p:sp>
      </p:grpSp>
      <p:grpSp>
        <p:nvGrpSpPr>
          <p:cNvPr id="121" name="Google Shape;121;p21"/>
          <p:cNvGrpSpPr/>
          <p:nvPr/>
        </p:nvGrpSpPr>
        <p:grpSpPr>
          <a:xfrm>
            <a:off x="381000" y="3524250"/>
            <a:ext cx="8382000" cy="952500"/>
            <a:chOff x="381000" y="3524250"/>
            <a:chExt cx="8382000" cy="952500"/>
          </a:xfrm>
        </p:grpSpPr>
        <p:sp>
          <p:nvSpPr>
            <p:cNvPr id="122" name="Google Shape;122;p21"/>
            <p:cNvSpPr/>
            <p:nvPr/>
          </p:nvSpPr>
          <p:spPr>
            <a:xfrm>
              <a:off x="381000" y="3524250"/>
              <a:ext cx="8382000" cy="952500"/>
            </a:xfrm>
            <a:prstGeom prst="roundRect">
              <a:avLst>
                <a:gd fmla="val 12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21"/>
            <p:cNvSpPr txBox="1"/>
            <p:nvPr/>
          </p:nvSpPr>
          <p:spPr>
            <a:xfrm>
              <a:off x="571500" y="3672078"/>
              <a:ext cx="5715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3600">
                  <a:solidFill>
                    <a:srgbClr val="F59E0B"/>
                  </a:solidFill>
                  <a:latin typeface="Material Icons"/>
                  <a:ea typeface="Material Icons"/>
                  <a:cs typeface="Material Icons"/>
                  <a:sym typeface="Material Icons"/>
                </a:rPr>
                <a:t>business_center</a:t>
              </a:r>
              <a:endParaRPr sz="3600">
                <a:solidFill>
                  <a:srgbClr val="F59E0B"/>
                </a:solidFill>
                <a:latin typeface="Material Icons"/>
                <a:ea typeface="Material Icons"/>
                <a:cs typeface="Material Icons"/>
                <a:sym typeface="Material Icons"/>
              </a:endParaRPr>
            </a:p>
          </p:txBody>
        </p:sp>
        <p:sp>
          <p:nvSpPr>
            <p:cNvPr id="124" name="Google Shape;124;p21"/>
            <p:cNvSpPr txBox="1"/>
            <p:nvPr/>
          </p:nvSpPr>
          <p:spPr>
            <a:xfrm>
              <a:off x="1333500" y="3524250"/>
              <a:ext cx="7239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1E293B"/>
                  </a:solidFill>
                  <a:latin typeface="Inter"/>
                  <a:ea typeface="Inter"/>
                  <a:cs typeface="Inter"/>
                  <a:sym typeface="Inter"/>
                </a:rPr>
                <a:t>Dimension Table 2</a:t>
              </a:r>
              <a:endParaRPr b="1" sz="1600">
                <a:solidFill>
                  <a:srgbClr val="1E293B"/>
                </a:solidFill>
                <a:latin typeface="Inter"/>
                <a:ea typeface="Inter"/>
                <a:cs typeface="Inter"/>
                <a:sym typeface="Inter"/>
              </a:endParaRPr>
            </a:p>
            <a:p>
              <a:pPr indent="0" lvl="0" marL="0" rtl="0" algn="l">
                <a:spcBef>
                  <a:spcPts val="300"/>
                </a:spcBef>
                <a:spcAft>
                  <a:spcPts val="0"/>
                </a:spcAft>
                <a:buNone/>
              </a:pPr>
              <a:r>
                <a:rPr b="0" lang="en" sz="1300">
                  <a:solidFill>
                    <a:srgbClr val="475569"/>
                  </a:solidFill>
                  <a:latin typeface="Inter"/>
                  <a:ea typeface="Inter"/>
                  <a:cs typeface="Inter"/>
                  <a:sym typeface="Inter"/>
                </a:rPr>
                <a:t>Leading Industries Dataset (Global market averages and sector growth).</a:t>
              </a:r>
              <a:endParaRPr b="0" sz="1300">
                <a:solidFill>
                  <a:srgbClr val="475569"/>
                </a:solidFill>
                <a:latin typeface="Inter"/>
                <a:ea typeface="Inter"/>
                <a:cs typeface="Inter"/>
                <a:sym typeface="Inte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graphicFrame>
        <p:nvGraphicFramePr>
          <p:cNvPr id="129" name="Google Shape;129;p22"/>
          <p:cNvGraphicFramePr/>
          <p:nvPr/>
        </p:nvGraphicFramePr>
        <p:xfrm>
          <a:off x="132725" y="1103650"/>
          <a:ext cx="3000000" cy="3000000"/>
        </p:xfrm>
        <a:graphic>
          <a:graphicData uri="http://schemas.openxmlformats.org/drawingml/2006/table">
            <a:tbl>
              <a:tblPr>
                <a:noFill/>
                <a:tableStyleId>{6D92E9AD-301D-4BE4-A85D-654F0F8D4CFA}</a:tableStyleId>
              </a:tblPr>
              <a:tblGrid>
                <a:gridCol w="913325"/>
                <a:gridCol w="858525"/>
                <a:gridCol w="3415825"/>
                <a:gridCol w="3580250"/>
              </a:tblGrid>
              <a:tr h="387525">
                <a:tc>
                  <a:txBody>
                    <a:bodyPr/>
                    <a:lstStyle/>
                    <a:p>
                      <a:pPr indent="0" lvl="0" marL="0" rtl="0" algn="l">
                        <a:spcBef>
                          <a:spcPts val="0"/>
                        </a:spcBef>
                        <a:spcAft>
                          <a:spcPts val="0"/>
                        </a:spcAft>
                        <a:buNone/>
                      </a:pPr>
                      <a:r>
                        <a:rPr b="1" lang="en" sz="1200"/>
                        <a:t>Column Name</a:t>
                      </a:r>
                      <a:endParaRPr b="1" sz="1200"/>
                    </a:p>
                  </a:txBody>
                  <a:tcPr marT="9525" marB="91425" marR="9525" marL="9525" anchor="b"/>
                </a:tc>
                <a:tc>
                  <a:txBody>
                    <a:bodyPr/>
                    <a:lstStyle/>
                    <a:p>
                      <a:pPr indent="0" lvl="0" marL="0" rtl="0" algn="l">
                        <a:spcBef>
                          <a:spcPts val="0"/>
                        </a:spcBef>
                        <a:spcAft>
                          <a:spcPts val="0"/>
                        </a:spcAft>
                        <a:buNone/>
                      </a:pPr>
                      <a:r>
                        <a:rPr b="1" lang="en" sz="1200"/>
                        <a:t>Data Type</a:t>
                      </a:r>
                      <a:endParaRPr b="1" sz="1200"/>
                    </a:p>
                  </a:txBody>
                  <a:tcPr marT="9525" marB="91425" marR="9525" marL="9525" anchor="b"/>
                </a:tc>
                <a:tc>
                  <a:txBody>
                    <a:bodyPr/>
                    <a:lstStyle/>
                    <a:p>
                      <a:pPr indent="0" lvl="0" marL="0" rtl="0" algn="l">
                        <a:spcBef>
                          <a:spcPts val="0"/>
                        </a:spcBef>
                        <a:spcAft>
                          <a:spcPts val="0"/>
                        </a:spcAft>
                        <a:buNone/>
                      </a:pPr>
                      <a:r>
                        <a:rPr b="1" lang="en" sz="1200"/>
                        <a:t>Valid Values / Sample Values</a:t>
                      </a:r>
                      <a:endParaRPr b="1" sz="1200"/>
                    </a:p>
                  </a:txBody>
                  <a:tcPr marT="9525" marB="91425" marR="9525" marL="9525" anchor="b"/>
                </a:tc>
                <a:tc>
                  <a:txBody>
                    <a:bodyPr/>
                    <a:lstStyle/>
                    <a:p>
                      <a:pPr indent="0" lvl="0" marL="0" rtl="0" algn="l">
                        <a:spcBef>
                          <a:spcPts val="0"/>
                        </a:spcBef>
                        <a:spcAft>
                          <a:spcPts val="0"/>
                        </a:spcAft>
                        <a:buNone/>
                      </a:pPr>
                      <a:r>
                        <a:rPr b="1" lang="en" sz="1200"/>
                        <a:t>Description</a:t>
                      </a:r>
                      <a:endParaRPr b="1" sz="1200"/>
                    </a:p>
                  </a:txBody>
                  <a:tcPr marT="9525" marB="91425" marR="9525" marL="9525" anchor="b"/>
                </a:tc>
              </a:tr>
              <a:tr h="387525">
                <a:tc>
                  <a:txBody>
                    <a:bodyPr/>
                    <a:lstStyle/>
                    <a:p>
                      <a:pPr indent="0" lvl="0" marL="0" rtl="0" algn="l">
                        <a:spcBef>
                          <a:spcPts val="0"/>
                        </a:spcBef>
                        <a:spcAft>
                          <a:spcPts val="0"/>
                        </a:spcAft>
                        <a:buNone/>
                      </a:pPr>
                      <a:r>
                        <a:rPr lang="en" sz="1200"/>
                        <a:t>Rank</a:t>
                      </a:r>
                      <a:endParaRPr sz="1200"/>
                    </a:p>
                  </a:txBody>
                  <a:tcPr marT="9525" marB="91425" marR="9525" marL="9525" anchor="b"/>
                </a:tc>
                <a:tc>
                  <a:txBody>
                    <a:bodyPr/>
                    <a:lstStyle/>
                    <a:p>
                      <a:pPr indent="0" lvl="0" marL="0" rtl="0" algn="l">
                        <a:spcBef>
                          <a:spcPts val="0"/>
                        </a:spcBef>
                        <a:spcAft>
                          <a:spcPts val="0"/>
                        </a:spcAft>
                        <a:buNone/>
                      </a:pPr>
                      <a:r>
                        <a:rPr lang="en" sz="1200"/>
                        <a:t>Whole Number</a:t>
                      </a:r>
                      <a:endParaRPr sz="1200"/>
                    </a:p>
                  </a:txBody>
                  <a:tcPr marT="9525" marB="91425" marR="9525" marL="9525" anchor="b"/>
                </a:tc>
                <a:tc>
                  <a:txBody>
                    <a:bodyPr/>
                    <a:lstStyle/>
                    <a:p>
                      <a:pPr indent="0" lvl="0" marL="0" rtl="0" algn="l">
                        <a:spcBef>
                          <a:spcPts val="0"/>
                        </a:spcBef>
                        <a:spcAft>
                          <a:spcPts val="0"/>
                        </a:spcAft>
                        <a:buNone/>
                      </a:pPr>
                      <a:r>
                        <a:rPr lang="en" sz="1200"/>
                        <a:t>1–212</a:t>
                      </a:r>
                      <a:endParaRPr sz="1200"/>
                    </a:p>
                  </a:txBody>
                  <a:tcPr marT="9525" marB="91425" marR="9525" marL="9525" anchor="b"/>
                </a:tc>
                <a:tc>
                  <a:txBody>
                    <a:bodyPr/>
                    <a:lstStyle/>
                    <a:p>
                      <a:pPr indent="0" lvl="0" marL="0" rtl="0" algn="l">
                        <a:spcBef>
                          <a:spcPts val="0"/>
                        </a:spcBef>
                        <a:spcAft>
                          <a:spcPts val="0"/>
                        </a:spcAft>
                        <a:buNone/>
                      </a:pPr>
                      <a:r>
                        <a:rPr lang="en" sz="1200"/>
                        <a:t>GDP rank of the country (based on economic size or GDP level)</a:t>
                      </a:r>
                      <a:endParaRPr sz="1200"/>
                    </a:p>
                  </a:txBody>
                  <a:tcPr marT="9525" marB="91425" marR="9525" marL="9525" anchor="b"/>
                </a:tc>
              </a:tr>
              <a:tr h="387525">
                <a:tc>
                  <a:txBody>
                    <a:bodyPr/>
                    <a:lstStyle/>
                    <a:p>
                      <a:pPr indent="0" lvl="0" marL="0" rtl="0" algn="l">
                        <a:spcBef>
                          <a:spcPts val="0"/>
                        </a:spcBef>
                        <a:spcAft>
                          <a:spcPts val="0"/>
                        </a:spcAft>
                        <a:buNone/>
                      </a:pPr>
                      <a:r>
                        <a:rPr lang="en" sz="1200"/>
                        <a:t>ID</a:t>
                      </a:r>
                      <a:endParaRPr sz="1200"/>
                    </a:p>
                  </a:txBody>
                  <a:tcPr marT="9525" marB="91425" marR="9525" marL="9525" anchor="b"/>
                </a:tc>
                <a:tc>
                  <a:txBody>
                    <a:bodyPr/>
                    <a:lstStyle/>
                    <a:p>
                      <a:pPr indent="0" lvl="0" marL="0" rtl="0" algn="l">
                        <a:spcBef>
                          <a:spcPts val="0"/>
                        </a:spcBef>
                        <a:spcAft>
                          <a:spcPts val="0"/>
                        </a:spcAft>
                        <a:buNone/>
                      </a:pPr>
                      <a:r>
                        <a:rPr lang="en" sz="1200"/>
                        <a:t>Whole Number</a:t>
                      </a:r>
                      <a:endParaRPr sz="1200"/>
                    </a:p>
                  </a:txBody>
                  <a:tcPr marT="9525" marB="91425" marR="9525" marL="9525" anchor="b"/>
                </a:tc>
                <a:tc>
                  <a:txBody>
                    <a:bodyPr/>
                    <a:lstStyle/>
                    <a:p>
                      <a:pPr indent="0" lvl="0" marL="0" rtl="0" algn="l">
                        <a:spcBef>
                          <a:spcPts val="0"/>
                        </a:spcBef>
                        <a:spcAft>
                          <a:spcPts val="0"/>
                        </a:spcAft>
                        <a:buNone/>
                      </a:pPr>
                      <a:r>
                        <a:rPr lang="en" sz="1200"/>
                        <a:t>1–212</a:t>
                      </a:r>
                      <a:endParaRPr sz="1200"/>
                    </a:p>
                  </a:txBody>
                  <a:tcPr marT="9525" marB="91425" marR="9525" marL="9525" anchor="b"/>
                </a:tc>
                <a:tc>
                  <a:txBody>
                    <a:bodyPr/>
                    <a:lstStyle/>
                    <a:p>
                      <a:pPr indent="0" lvl="0" marL="0" rtl="0" algn="l">
                        <a:spcBef>
                          <a:spcPts val="0"/>
                        </a:spcBef>
                        <a:spcAft>
                          <a:spcPts val="0"/>
                        </a:spcAft>
                        <a:buNone/>
                      </a:pPr>
                      <a:r>
                        <a:rPr lang="en" sz="1200"/>
                        <a:t>Unique identifier for each country record</a:t>
                      </a:r>
                      <a:endParaRPr sz="1200"/>
                    </a:p>
                  </a:txBody>
                  <a:tcPr marT="9525" marB="91425" marR="9525" marL="9525" anchor="b"/>
                </a:tc>
              </a:tr>
              <a:tr h="236025">
                <a:tc>
                  <a:txBody>
                    <a:bodyPr/>
                    <a:lstStyle/>
                    <a:p>
                      <a:pPr indent="0" lvl="0" marL="0" rtl="0" algn="l">
                        <a:spcBef>
                          <a:spcPts val="0"/>
                        </a:spcBef>
                        <a:spcAft>
                          <a:spcPts val="0"/>
                        </a:spcAft>
                        <a:buNone/>
                      </a:pPr>
                      <a:r>
                        <a:rPr lang="en" sz="1200"/>
                        <a:t>Country</a:t>
                      </a:r>
                      <a:endParaRPr sz="1200"/>
                    </a:p>
                  </a:txBody>
                  <a:tcPr marT="9525" marB="91425" marR="9525" marL="9525" anchor="b"/>
                </a:tc>
                <a:tc>
                  <a:txBody>
                    <a:bodyPr/>
                    <a:lstStyle/>
                    <a:p>
                      <a:pPr indent="0" lvl="0" marL="0" rtl="0" algn="l">
                        <a:spcBef>
                          <a:spcPts val="0"/>
                        </a:spcBef>
                        <a:spcAft>
                          <a:spcPts val="0"/>
                        </a:spcAft>
                        <a:buNone/>
                      </a:pPr>
                      <a:r>
                        <a:rPr lang="en" sz="1200"/>
                        <a:t>Text</a:t>
                      </a:r>
                      <a:endParaRPr sz="1200"/>
                    </a:p>
                  </a:txBody>
                  <a:tcPr marT="9525" marB="91425" marR="9525" marL="9525" anchor="b"/>
                </a:tc>
                <a:tc>
                  <a:txBody>
                    <a:bodyPr/>
                    <a:lstStyle/>
                    <a:p>
                      <a:pPr indent="0" lvl="0" marL="0" rtl="0" algn="l">
                        <a:spcBef>
                          <a:spcPts val="0"/>
                        </a:spcBef>
                        <a:spcAft>
                          <a:spcPts val="0"/>
                        </a:spcAft>
                        <a:buNone/>
                      </a:pPr>
                      <a:r>
                        <a:rPr lang="en" sz="1200"/>
                        <a:t>United States, China, Germany, India, Brazil</a:t>
                      </a:r>
                      <a:endParaRPr sz="1200"/>
                    </a:p>
                  </a:txBody>
                  <a:tcPr marT="9525" marB="91425" marR="9525" marL="9525" anchor="b"/>
                </a:tc>
                <a:tc>
                  <a:txBody>
                    <a:bodyPr/>
                    <a:lstStyle/>
                    <a:p>
                      <a:pPr indent="0" lvl="0" marL="0" rtl="0" algn="l">
                        <a:spcBef>
                          <a:spcPts val="0"/>
                        </a:spcBef>
                        <a:spcAft>
                          <a:spcPts val="0"/>
                        </a:spcAft>
                        <a:buNone/>
                      </a:pPr>
                      <a:r>
                        <a:rPr lang="en" sz="1200"/>
                        <a:t>Name of the country</a:t>
                      </a:r>
                      <a:endParaRPr sz="1200"/>
                    </a:p>
                  </a:txBody>
                  <a:tcPr marT="9525" marB="91425" marR="9525" marL="9525" anchor="b"/>
                </a:tc>
              </a:tr>
              <a:tr h="387525">
                <a:tc>
                  <a:txBody>
                    <a:bodyPr/>
                    <a:lstStyle/>
                    <a:p>
                      <a:pPr indent="0" lvl="0" marL="0" rtl="0" algn="l">
                        <a:spcBef>
                          <a:spcPts val="0"/>
                        </a:spcBef>
                        <a:spcAft>
                          <a:spcPts val="0"/>
                        </a:spcAft>
                        <a:buNone/>
                      </a:pPr>
                      <a:r>
                        <a:rPr lang="en" sz="1200"/>
                        <a:t>Continent</a:t>
                      </a:r>
                      <a:endParaRPr sz="1200"/>
                    </a:p>
                  </a:txBody>
                  <a:tcPr marT="9525" marB="91425" marR="9525" marL="9525" anchor="b"/>
                </a:tc>
                <a:tc>
                  <a:txBody>
                    <a:bodyPr/>
                    <a:lstStyle/>
                    <a:p>
                      <a:pPr indent="0" lvl="0" marL="0" rtl="0" algn="l">
                        <a:spcBef>
                          <a:spcPts val="0"/>
                        </a:spcBef>
                        <a:spcAft>
                          <a:spcPts val="0"/>
                        </a:spcAft>
                        <a:buNone/>
                      </a:pPr>
                      <a:r>
                        <a:rPr lang="en" sz="1200"/>
                        <a:t>Text</a:t>
                      </a:r>
                      <a:endParaRPr sz="1200"/>
                    </a:p>
                  </a:txBody>
                  <a:tcPr marT="9525" marB="91425" marR="9525" marL="9525" anchor="b"/>
                </a:tc>
                <a:tc>
                  <a:txBody>
                    <a:bodyPr/>
                    <a:lstStyle/>
                    <a:p>
                      <a:pPr indent="0" lvl="0" marL="0" rtl="0" algn="l">
                        <a:spcBef>
                          <a:spcPts val="0"/>
                        </a:spcBef>
                        <a:spcAft>
                          <a:spcPts val="0"/>
                        </a:spcAft>
                        <a:buNone/>
                      </a:pPr>
                      <a:r>
                        <a:rPr lang="en" sz="1200"/>
                        <a:t>Africa, Europe, Asia, North America, South America, Oceania</a:t>
                      </a:r>
                      <a:endParaRPr sz="1200"/>
                    </a:p>
                  </a:txBody>
                  <a:tcPr marT="9525" marB="91425" marR="9525" marL="9525" anchor="b"/>
                </a:tc>
                <a:tc>
                  <a:txBody>
                    <a:bodyPr/>
                    <a:lstStyle/>
                    <a:p>
                      <a:pPr indent="0" lvl="0" marL="0" rtl="0" algn="l">
                        <a:spcBef>
                          <a:spcPts val="0"/>
                        </a:spcBef>
                        <a:spcAft>
                          <a:spcPts val="0"/>
                        </a:spcAft>
                        <a:buNone/>
                      </a:pPr>
                      <a:r>
                        <a:rPr lang="en" sz="1200"/>
                        <a:t>Continent where the country is located</a:t>
                      </a:r>
                      <a:endParaRPr sz="1200"/>
                    </a:p>
                  </a:txBody>
                  <a:tcPr marT="9525" marB="91425" marR="9525" marL="9525" anchor="b"/>
                </a:tc>
              </a:tr>
              <a:tr h="387525">
                <a:tc>
                  <a:txBody>
                    <a:bodyPr/>
                    <a:lstStyle/>
                    <a:p>
                      <a:pPr indent="0" lvl="0" marL="0" rtl="0" algn="l">
                        <a:spcBef>
                          <a:spcPts val="0"/>
                        </a:spcBef>
                        <a:spcAft>
                          <a:spcPts val="0"/>
                        </a:spcAft>
                        <a:buNone/>
                      </a:pPr>
                      <a:r>
                        <a:rPr lang="en" sz="1200"/>
                        <a:t>Population</a:t>
                      </a:r>
                      <a:endParaRPr sz="1200"/>
                    </a:p>
                  </a:txBody>
                  <a:tcPr marT="9525" marB="91425" marR="9525" marL="9525" anchor="b"/>
                </a:tc>
                <a:tc>
                  <a:txBody>
                    <a:bodyPr/>
                    <a:lstStyle/>
                    <a:p>
                      <a:pPr indent="0" lvl="0" marL="0" rtl="0" algn="l">
                        <a:spcBef>
                          <a:spcPts val="0"/>
                        </a:spcBef>
                        <a:spcAft>
                          <a:spcPts val="0"/>
                        </a:spcAft>
                        <a:buNone/>
                      </a:pPr>
                      <a:r>
                        <a:rPr lang="en" sz="1200"/>
                        <a:t>Whole Number</a:t>
                      </a:r>
                      <a:endParaRPr sz="1200"/>
                    </a:p>
                  </a:txBody>
                  <a:tcPr marT="9525" marB="91425" marR="9525" marL="9525" anchor="b"/>
                </a:tc>
                <a:tc>
                  <a:txBody>
                    <a:bodyPr/>
                    <a:lstStyle/>
                    <a:p>
                      <a:pPr indent="0" lvl="0" marL="0" rtl="0" algn="l">
                        <a:spcBef>
                          <a:spcPts val="0"/>
                        </a:spcBef>
                        <a:spcAft>
                          <a:spcPts val="0"/>
                        </a:spcAft>
                        <a:buNone/>
                      </a:pPr>
                      <a:r>
                        <a:rPr lang="en" sz="1200"/>
                        <a:t>4,000,000–1,400,000,000</a:t>
                      </a:r>
                      <a:endParaRPr sz="1200"/>
                    </a:p>
                  </a:txBody>
                  <a:tcPr marT="9525" marB="91425" marR="9525" marL="9525" anchor="b"/>
                </a:tc>
                <a:tc>
                  <a:txBody>
                    <a:bodyPr/>
                    <a:lstStyle/>
                    <a:p>
                      <a:pPr indent="0" lvl="0" marL="0" rtl="0" algn="l">
                        <a:spcBef>
                          <a:spcPts val="0"/>
                        </a:spcBef>
                        <a:spcAft>
                          <a:spcPts val="0"/>
                        </a:spcAft>
                        <a:buNone/>
                      </a:pPr>
                      <a:r>
                        <a:rPr lang="en" sz="1200"/>
                        <a:t>Total population of the country (2023)</a:t>
                      </a:r>
                      <a:endParaRPr sz="1200"/>
                    </a:p>
                  </a:txBody>
                  <a:tcPr marT="9525" marB="91425" marR="9525" marL="9525" anchor="b"/>
                </a:tc>
              </a:tr>
              <a:tr h="387525">
                <a:tc>
                  <a:txBody>
                    <a:bodyPr/>
                    <a:lstStyle/>
                    <a:p>
                      <a:pPr indent="0" lvl="0" marL="0" rtl="0" algn="l">
                        <a:spcBef>
                          <a:spcPts val="0"/>
                        </a:spcBef>
                        <a:spcAft>
                          <a:spcPts val="0"/>
                        </a:spcAft>
                        <a:buNone/>
                      </a:pPr>
                      <a:r>
                        <a:rPr lang="en" sz="1200"/>
                        <a:t>IMF GDP</a:t>
                      </a:r>
                      <a:endParaRPr sz="1200"/>
                    </a:p>
                  </a:txBody>
                  <a:tcPr marT="9525" marB="91425" marR="9525" marL="9525" anchor="b"/>
                </a:tc>
                <a:tc>
                  <a:txBody>
                    <a:bodyPr/>
                    <a:lstStyle/>
                    <a:p>
                      <a:pPr indent="0" lvl="0" marL="0" rtl="0" algn="l">
                        <a:spcBef>
                          <a:spcPts val="0"/>
                        </a:spcBef>
                        <a:spcAft>
                          <a:spcPts val="0"/>
                        </a:spcAft>
                        <a:buNone/>
                      </a:pPr>
                      <a:r>
                        <a:rPr lang="en" sz="1200"/>
                        <a:t>Decimal</a:t>
                      </a:r>
                      <a:endParaRPr sz="1200"/>
                    </a:p>
                  </a:txBody>
                  <a:tcPr marT="9525" marB="91425" marR="9525" marL="9525" anchor="b"/>
                </a:tc>
                <a:tc>
                  <a:txBody>
                    <a:bodyPr/>
                    <a:lstStyle/>
                    <a:p>
                      <a:pPr indent="0" lvl="0" marL="0" rtl="0" algn="l">
                        <a:spcBef>
                          <a:spcPts val="0"/>
                        </a:spcBef>
                        <a:spcAft>
                          <a:spcPts val="0"/>
                        </a:spcAft>
                        <a:buNone/>
                      </a:pPr>
                      <a:r>
                        <a:rPr lang="en" sz="1200"/>
                        <a:t>0–26,695,150,000,000</a:t>
                      </a:r>
                      <a:endParaRPr sz="1200"/>
                    </a:p>
                  </a:txBody>
                  <a:tcPr marT="9525" marB="91425" marR="9525" marL="9525" anchor="b"/>
                </a:tc>
                <a:tc>
                  <a:txBody>
                    <a:bodyPr/>
                    <a:lstStyle/>
                    <a:p>
                      <a:pPr indent="0" lvl="0" marL="0" rtl="0" algn="l">
                        <a:spcBef>
                          <a:spcPts val="0"/>
                        </a:spcBef>
                        <a:spcAft>
                          <a:spcPts val="0"/>
                        </a:spcAft>
                        <a:buNone/>
                      </a:pPr>
                      <a:r>
                        <a:rPr lang="en" sz="1200"/>
                        <a:t>GDP value reported by the International Monetary Fund</a:t>
                      </a:r>
                      <a:endParaRPr sz="1200"/>
                    </a:p>
                  </a:txBody>
                  <a:tcPr marT="9525" marB="91425" marR="9525" marL="9525" anchor="b"/>
                </a:tc>
              </a:tr>
              <a:tr h="236025">
                <a:tc>
                  <a:txBody>
                    <a:bodyPr/>
                    <a:lstStyle/>
                    <a:p>
                      <a:pPr indent="0" lvl="0" marL="0" rtl="0" algn="l">
                        <a:spcBef>
                          <a:spcPts val="0"/>
                        </a:spcBef>
                        <a:spcAft>
                          <a:spcPts val="0"/>
                        </a:spcAft>
                        <a:buNone/>
                      </a:pPr>
                      <a:r>
                        <a:rPr lang="en" sz="1200"/>
                        <a:t>UN GDP</a:t>
                      </a:r>
                      <a:endParaRPr sz="1200"/>
                    </a:p>
                  </a:txBody>
                  <a:tcPr marT="9525" marB="91425" marR="9525" marL="9525" anchor="b"/>
                </a:tc>
                <a:tc>
                  <a:txBody>
                    <a:bodyPr/>
                    <a:lstStyle/>
                    <a:p>
                      <a:pPr indent="0" lvl="0" marL="0" rtl="0" algn="l">
                        <a:spcBef>
                          <a:spcPts val="0"/>
                        </a:spcBef>
                        <a:spcAft>
                          <a:spcPts val="0"/>
                        </a:spcAft>
                        <a:buNone/>
                      </a:pPr>
                      <a:r>
                        <a:rPr lang="en" sz="1200"/>
                        <a:t>Decimal</a:t>
                      </a:r>
                      <a:endParaRPr sz="1200"/>
                    </a:p>
                  </a:txBody>
                  <a:tcPr marT="9525" marB="91425" marR="9525" marL="9525" anchor="b"/>
                </a:tc>
                <a:tc>
                  <a:txBody>
                    <a:bodyPr/>
                    <a:lstStyle/>
                    <a:p>
                      <a:pPr indent="0" lvl="0" marL="0" rtl="0" algn="l">
                        <a:spcBef>
                          <a:spcPts val="0"/>
                        </a:spcBef>
                        <a:spcAft>
                          <a:spcPts val="0"/>
                        </a:spcAft>
                        <a:buNone/>
                      </a:pPr>
                      <a:r>
                        <a:rPr lang="en" sz="1200"/>
                        <a:t>0–18,624,475,000,000</a:t>
                      </a:r>
                      <a:endParaRPr sz="1200"/>
                    </a:p>
                  </a:txBody>
                  <a:tcPr marT="9525" marB="91425" marR="9525" marL="9525" anchor="b"/>
                </a:tc>
                <a:tc>
                  <a:txBody>
                    <a:bodyPr/>
                    <a:lstStyle/>
                    <a:p>
                      <a:pPr indent="0" lvl="0" marL="0" rtl="0" algn="l">
                        <a:spcBef>
                          <a:spcPts val="0"/>
                        </a:spcBef>
                        <a:spcAft>
                          <a:spcPts val="0"/>
                        </a:spcAft>
                        <a:buNone/>
                      </a:pPr>
                      <a:r>
                        <a:rPr lang="en" sz="1200"/>
                        <a:t>GDP value reported by the United Nations</a:t>
                      </a:r>
                      <a:endParaRPr sz="1200"/>
                    </a:p>
                  </a:txBody>
                  <a:tcPr marT="9525" marB="91425" marR="9525" marL="9525" anchor="b"/>
                </a:tc>
              </a:tr>
              <a:tr h="387525">
                <a:tc>
                  <a:txBody>
                    <a:bodyPr/>
                    <a:lstStyle/>
                    <a:p>
                      <a:pPr indent="0" lvl="0" marL="0" rtl="0" algn="l">
                        <a:spcBef>
                          <a:spcPts val="0"/>
                        </a:spcBef>
                        <a:spcAft>
                          <a:spcPts val="0"/>
                        </a:spcAft>
                        <a:buNone/>
                      </a:pPr>
                      <a:r>
                        <a:rPr lang="en" sz="1200"/>
                        <a:t>GDP per Capita</a:t>
                      </a:r>
                      <a:endParaRPr sz="1200"/>
                    </a:p>
                  </a:txBody>
                  <a:tcPr marT="9525" marB="91425" marR="9525" marL="9525" anchor="b"/>
                </a:tc>
                <a:tc>
                  <a:txBody>
                    <a:bodyPr/>
                    <a:lstStyle/>
                    <a:p>
                      <a:pPr indent="0" lvl="0" marL="0" rtl="0" algn="l">
                        <a:spcBef>
                          <a:spcPts val="0"/>
                        </a:spcBef>
                        <a:spcAft>
                          <a:spcPts val="0"/>
                        </a:spcAft>
                        <a:buNone/>
                      </a:pPr>
                      <a:r>
                        <a:rPr lang="en" sz="1200"/>
                        <a:t>Decimal</a:t>
                      </a:r>
                      <a:endParaRPr sz="1200"/>
                    </a:p>
                  </a:txBody>
                  <a:tcPr marT="9525" marB="91425" marR="9525" marL="9525" anchor="b"/>
                </a:tc>
                <a:tc>
                  <a:txBody>
                    <a:bodyPr/>
                    <a:lstStyle/>
                    <a:p>
                      <a:pPr indent="0" lvl="0" marL="0" rtl="0" algn="l">
                        <a:spcBef>
                          <a:spcPts val="0"/>
                        </a:spcBef>
                        <a:spcAft>
                          <a:spcPts val="0"/>
                        </a:spcAft>
                        <a:buNone/>
                      </a:pPr>
                      <a:r>
                        <a:rPr lang="en" sz="1200"/>
                        <a:t>278.43–178,196.57</a:t>
                      </a:r>
                      <a:endParaRPr sz="1200"/>
                    </a:p>
                  </a:txBody>
                  <a:tcPr marT="9525" marB="91425" marR="9525" marL="9525" anchor="b"/>
                </a:tc>
                <a:tc>
                  <a:txBody>
                    <a:bodyPr/>
                    <a:lstStyle/>
                    <a:p>
                      <a:pPr indent="0" lvl="0" marL="0" rtl="0" algn="l">
                        <a:spcBef>
                          <a:spcPts val="0"/>
                        </a:spcBef>
                        <a:spcAft>
                          <a:spcPts val="0"/>
                        </a:spcAft>
                        <a:buNone/>
                      </a:pPr>
                      <a:r>
                        <a:rPr lang="en" sz="1200"/>
                        <a:t>GDP divided by population (economic output per person)</a:t>
                      </a:r>
                      <a:endParaRPr sz="1200"/>
                    </a:p>
                  </a:txBody>
                  <a:tcPr marT="9525" marB="91425" marR="9525" marL="9525" anchor="b"/>
                </a:tc>
              </a:tr>
            </a:tbl>
          </a:graphicData>
        </a:graphic>
      </p:graphicFrame>
      <p:grpSp>
        <p:nvGrpSpPr>
          <p:cNvPr id="130" name="Google Shape;130;p22"/>
          <p:cNvGrpSpPr/>
          <p:nvPr/>
        </p:nvGrpSpPr>
        <p:grpSpPr>
          <a:xfrm>
            <a:off x="0" y="0"/>
            <a:ext cx="9144000" cy="952500"/>
            <a:chOff x="0" y="0"/>
            <a:chExt cx="9144000" cy="952500"/>
          </a:xfrm>
        </p:grpSpPr>
        <p:sp>
          <p:nvSpPr>
            <p:cNvPr id="131" name="Google Shape;131;p22"/>
            <p:cNvSpPr/>
            <p:nvPr/>
          </p:nvSpPr>
          <p:spPr>
            <a:xfrm>
              <a:off x="0" y="0"/>
              <a:ext cx="9144000" cy="9525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22"/>
            <p:cNvSpPr txBox="1"/>
            <p:nvPr/>
          </p:nvSpPr>
          <p:spPr>
            <a:xfrm>
              <a:off x="381000" y="0"/>
              <a:ext cx="8382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200">
                  <a:solidFill>
                    <a:srgbClr val="FFFFFF"/>
                  </a:solidFill>
                  <a:latin typeface="Inter"/>
                  <a:ea typeface="Inter"/>
                  <a:cs typeface="Inter"/>
                  <a:sym typeface="Inter"/>
                </a:rPr>
                <a:t>Global Placement Primary Table Metadata </a:t>
              </a:r>
              <a:endParaRPr b="1" sz="3200">
                <a:solidFill>
                  <a:srgbClr val="FFFFFF"/>
                </a:solidFill>
                <a:latin typeface="Inter"/>
                <a:ea typeface="Inter"/>
                <a:cs typeface="Inter"/>
                <a:sym typeface="Inte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3"/>
          <p:cNvSpPr/>
          <p:nvPr/>
        </p:nvSpPr>
        <p:spPr>
          <a:xfrm>
            <a:off x="0" y="0"/>
            <a:ext cx="9144000" cy="9525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p23"/>
          <p:cNvSpPr txBox="1"/>
          <p:nvPr/>
        </p:nvSpPr>
        <p:spPr>
          <a:xfrm>
            <a:off x="381000" y="0"/>
            <a:ext cx="8382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200">
                <a:solidFill>
                  <a:srgbClr val="FFFFFF"/>
                </a:solidFill>
                <a:latin typeface="Inter"/>
                <a:ea typeface="Inter"/>
                <a:cs typeface="Inter"/>
                <a:sym typeface="Inter"/>
              </a:rPr>
              <a:t>Country GDP </a:t>
            </a:r>
            <a:r>
              <a:rPr b="1" lang="en" sz="3200">
                <a:solidFill>
                  <a:srgbClr val="FFFFFF"/>
                </a:solidFill>
                <a:latin typeface="Inter"/>
                <a:ea typeface="Inter"/>
                <a:cs typeface="Inter"/>
                <a:sym typeface="Inter"/>
              </a:rPr>
              <a:t>Dimension Table Metadata </a:t>
            </a:r>
            <a:endParaRPr b="1" sz="3200">
              <a:solidFill>
                <a:srgbClr val="FFFFFF"/>
              </a:solidFill>
              <a:latin typeface="Inter"/>
              <a:ea typeface="Inter"/>
              <a:cs typeface="Inter"/>
              <a:sym typeface="Inter"/>
            </a:endParaRPr>
          </a:p>
        </p:txBody>
      </p:sp>
      <p:graphicFrame>
        <p:nvGraphicFramePr>
          <p:cNvPr id="139" name="Google Shape;139;p23"/>
          <p:cNvGraphicFramePr/>
          <p:nvPr/>
        </p:nvGraphicFramePr>
        <p:xfrm>
          <a:off x="195250" y="1092600"/>
          <a:ext cx="3000000" cy="3000000"/>
        </p:xfrm>
        <a:graphic>
          <a:graphicData uri="http://schemas.openxmlformats.org/drawingml/2006/table">
            <a:tbl>
              <a:tblPr>
                <a:noFill/>
                <a:tableStyleId>{6D92E9AD-301D-4BE4-A85D-654F0F8D4CFA}</a:tableStyleId>
              </a:tblPr>
              <a:tblGrid>
                <a:gridCol w="1153000"/>
                <a:gridCol w="1271950"/>
                <a:gridCol w="3157000"/>
                <a:gridCol w="3193625"/>
              </a:tblGrid>
              <a:tr h="314325">
                <a:tc>
                  <a:txBody>
                    <a:bodyPr/>
                    <a:lstStyle/>
                    <a:p>
                      <a:pPr indent="0" lvl="0" marL="0" rtl="0" algn="l">
                        <a:spcBef>
                          <a:spcPts val="0"/>
                        </a:spcBef>
                        <a:spcAft>
                          <a:spcPts val="0"/>
                        </a:spcAft>
                        <a:buNone/>
                      </a:pPr>
                      <a:r>
                        <a:rPr b="1" lang="en" sz="1200"/>
                        <a:t>Column Name</a:t>
                      </a:r>
                      <a:endParaRPr b="1" sz="1200"/>
                    </a:p>
                  </a:txBody>
                  <a:tcPr marT="9525" marB="91425" marR="9525" marL="9525" anchor="b"/>
                </a:tc>
                <a:tc>
                  <a:txBody>
                    <a:bodyPr/>
                    <a:lstStyle/>
                    <a:p>
                      <a:pPr indent="0" lvl="0" marL="0" rtl="0" algn="l">
                        <a:spcBef>
                          <a:spcPts val="0"/>
                        </a:spcBef>
                        <a:spcAft>
                          <a:spcPts val="0"/>
                        </a:spcAft>
                        <a:buNone/>
                      </a:pPr>
                      <a:r>
                        <a:rPr b="1" lang="en" sz="1200"/>
                        <a:t>Data Type</a:t>
                      </a:r>
                      <a:endParaRPr b="1" sz="1200"/>
                    </a:p>
                  </a:txBody>
                  <a:tcPr marT="9525" marB="91425" marR="9525" marL="9525" anchor="b"/>
                </a:tc>
                <a:tc>
                  <a:txBody>
                    <a:bodyPr/>
                    <a:lstStyle/>
                    <a:p>
                      <a:pPr indent="0" lvl="0" marL="0" rtl="0" algn="l">
                        <a:spcBef>
                          <a:spcPts val="0"/>
                        </a:spcBef>
                        <a:spcAft>
                          <a:spcPts val="0"/>
                        </a:spcAft>
                        <a:buNone/>
                      </a:pPr>
                      <a:r>
                        <a:rPr b="1" lang="en" sz="1200"/>
                        <a:t>Valid Values / Sample Values</a:t>
                      </a:r>
                      <a:endParaRPr b="1" sz="1200"/>
                    </a:p>
                  </a:txBody>
                  <a:tcPr marT="9525" marB="91425" marR="9525" marL="9525" anchor="b"/>
                </a:tc>
                <a:tc>
                  <a:txBody>
                    <a:bodyPr/>
                    <a:lstStyle/>
                    <a:p>
                      <a:pPr indent="0" lvl="0" marL="0" rtl="0" algn="l">
                        <a:spcBef>
                          <a:spcPts val="0"/>
                        </a:spcBef>
                        <a:spcAft>
                          <a:spcPts val="0"/>
                        </a:spcAft>
                        <a:buNone/>
                      </a:pPr>
                      <a:r>
                        <a:rPr b="1" lang="en" sz="1200"/>
                        <a:t>Description</a:t>
                      </a:r>
                      <a:endParaRPr b="1" sz="1200"/>
                    </a:p>
                  </a:txBody>
                  <a:tcPr marT="9525" marB="91425" marR="9525" marL="9525" anchor="b"/>
                </a:tc>
              </a:tr>
              <a:tr h="516100">
                <a:tc>
                  <a:txBody>
                    <a:bodyPr/>
                    <a:lstStyle/>
                    <a:p>
                      <a:pPr indent="0" lvl="0" marL="0" rtl="0" algn="l">
                        <a:spcBef>
                          <a:spcPts val="0"/>
                        </a:spcBef>
                        <a:spcAft>
                          <a:spcPts val="0"/>
                        </a:spcAft>
                        <a:buNone/>
                      </a:pPr>
                      <a:r>
                        <a:rPr lang="en" sz="1200"/>
                        <a:t>Rank</a:t>
                      </a:r>
                      <a:endParaRPr sz="1200"/>
                    </a:p>
                  </a:txBody>
                  <a:tcPr marT="9525" marB="91425" marR="9525" marL="9525" anchor="b"/>
                </a:tc>
                <a:tc>
                  <a:txBody>
                    <a:bodyPr/>
                    <a:lstStyle/>
                    <a:p>
                      <a:pPr indent="0" lvl="0" marL="0" rtl="0" algn="l">
                        <a:spcBef>
                          <a:spcPts val="0"/>
                        </a:spcBef>
                        <a:spcAft>
                          <a:spcPts val="0"/>
                        </a:spcAft>
                        <a:buNone/>
                      </a:pPr>
                      <a:r>
                        <a:rPr lang="en" sz="1200"/>
                        <a:t>Whole Number</a:t>
                      </a:r>
                      <a:endParaRPr sz="1200"/>
                    </a:p>
                  </a:txBody>
                  <a:tcPr marT="9525" marB="91425" marR="9525" marL="9525" anchor="b"/>
                </a:tc>
                <a:tc>
                  <a:txBody>
                    <a:bodyPr/>
                    <a:lstStyle/>
                    <a:p>
                      <a:pPr indent="0" lvl="0" marL="0" rtl="0" algn="l">
                        <a:spcBef>
                          <a:spcPts val="0"/>
                        </a:spcBef>
                        <a:spcAft>
                          <a:spcPts val="0"/>
                        </a:spcAft>
                        <a:buNone/>
                      </a:pPr>
                      <a:r>
                        <a:rPr lang="en" sz="1200"/>
                        <a:t>1–212</a:t>
                      </a:r>
                      <a:endParaRPr sz="1200"/>
                    </a:p>
                  </a:txBody>
                  <a:tcPr marT="9525" marB="91425" marR="9525" marL="9525" anchor="b"/>
                </a:tc>
                <a:tc>
                  <a:txBody>
                    <a:bodyPr/>
                    <a:lstStyle/>
                    <a:p>
                      <a:pPr indent="0" lvl="0" marL="0" rtl="0" algn="l">
                        <a:spcBef>
                          <a:spcPts val="0"/>
                        </a:spcBef>
                        <a:spcAft>
                          <a:spcPts val="0"/>
                        </a:spcAft>
                        <a:buNone/>
                      </a:pPr>
                      <a:r>
                        <a:rPr lang="en" sz="1200"/>
                        <a:t>GDP rank of the country (based on overall GDP ordering)</a:t>
                      </a:r>
                      <a:endParaRPr sz="1200"/>
                    </a:p>
                  </a:txBody>
                  <a:tcPr marT="9525" marB="91425" marR="9525" marL="9525" anchor="b"/>
                </a:tc>
              </a:tr>
              <a:tr h="314325">
                <a:tc>
                  <a:txBody>
                    <a:bodyPr/>
                    <a:lstStyle/>
                    <a:p>
                      <a:pPr indent="0" lvl="0" marL="0" rtl="0" algn="l">
                        <a:spcBef>
                          <a:spcPts val="0"/>
                        </a:spcBef>
                        <a:spcAft>
                          <a:spcPts val="0"/>
                        </a:spcAft>
                        <a:buNone/>
                      </a:pPr>
                      <a:r>
                        <a:rPr lang="en" sz="1200"/>
                        <a:t>ID</a:t>
                      </a:r>
                      <a:endParaRPr sz="1200"/>
                    </a:p>
                  </a:txBody>
                  <a:tcPr marT="9525" marB="91425" marR="9525" marL="9525" anchor="b"/>
                </a:tc>
                <a:tc>
                  <a:txBody>
                    <a:bodyPr/>
                    <a:lstStyle/>
                    <a:p>
                      <a:pPr indent="0" lvl="0" marL="0" rtl="0" algn="l">
                        <a:spcBef>
                          <a:spcPts val="0"/>
                        </a:spcBef>
                        <a:spcAft>
                          <a:spcPts val="0"/>
                        </a:spcAft>
                        <a:buNone/>
                      </a:pPr>
                      <a:r>
                        <a:rPr lang="en" sz="1200"/>
                        <a:t>Whole Number</a:t>
                      </a:r>
                      <a:endParaRPr sz="1200"/>
                    </a:p>
                  </a:txBody>
                  <a:tcPr marT="9525" marB="91425" marR="9525" marL="9525" anchor="b"/>
                </a:tc>
                <a:tc>
                  <a:txBody>
                    <a:bodyPr/>
                    <a:lstStyle/>
                    <a:p>
                      <a:pPr indent="0" lvl="0" marL="0" rtl="0" algn="l">
                        <a:spcBef>
                          <a:spcPts val="0"/>
                        </a:spcBef>
                        <a:spcAft>
                          <a:spcPts val="0"/>
                        </a:spcAft>
                        <a:buNone/>
                      </a:pPr>
                      <a:r>
                        <a:rPr lang="en" sz="1200"/>
                        <a:t>4–894</a:t>
                      </a:r>
                      <a:endParaRPr sz="1200"/>
                    </a:p>
                  </a:txBody>
                  <a:tcPr marT="9525" marB="91425" marR="9525" marL="9525" anchor="b"/>
                </a:tc>
                <a:tc>
                  <a:txBody>
                    <a:bodyPr/>
                    <a:lstStyle/>
                    <a:p>
                      <a:pPr indent="0" lvl="0" marL="0" rtl="0" algn="l">
                        <a:spcBef>
                          <a:spcPts val="0"/>
                        </a:spcBef>
                        <a:spcAft>
                          <a:spcPts val="0"/>
                        </a:spcAft>
                        <a:buNone/>
                      </a:pPr>
                      <a:r>
                        <a:rPr lang="en" sz="1200"/>
                        <a:t>Unique country identifier used in the dataset</a:t>
                      </a:r>
                      <a:endParaRPr sz="1200"/>
                    </a:p>
                  </a:txBody>
                  <a:tcPr marT="9525" marB="91425" marR="9525" marL="9525" anchor="b"/>
                </a:tc>
              </a:tr>
              <a:tr h="314325">
                <a:tc>
                  <a:txBody>
                    <a:bodyPr/>
                    <a:lstStyle/>
                    <a:p>
                      <a:pPr indent="0" lvl="0" marL="0" rtl="0" algn="l">
                        <a:spcBef>
                          <a:spcPts val="0"/>
                        </a:spcBef>
                        <a:spcAft>
                          <a:spcPts val="0"/>
                        </a:spcAft>
                        <a:buNone/>
                      </a:pPr>
                      <a:r>
                        <a:rPr lang="en" sz="1200"/>
                        <a:t>Country</a:t>
                      </a:r>
                      <a:endParaRPr sz="1200"/>
                    </a:p>
                  </a:txBody>
                  <a:tcPr marT="9525" marB="91425" marR="9525" marL="9525" anchor="b"/>
                </a:tc>
                <a:tc>
                  <a:txBody>
                    <a:bodyPr/>
                    <a:lstStyle/>
                    <a:p>
                      <a:pPr indent="0" lvl="0" marL="0" rtl="0" algn="l">
                        <a:spcBef>
                          <a:spcPts val="0"/>
                        </a:spcBef>
                        <a:spcAft>
                          <a:spcPts val="0"/>
                        </a:spcAft>
                        <a:buNone/>
                      </a:pPr>
                      <a:r>
                        <a:rPr lang="en" sz="1200"/>
                        <a:t>Text</a:t>
                      </a:r>
                      <a:endParaRPr sz="1200"/>
                    </a:p>
                  </a:txBody>
                  <a:tcPr marT="9525" marB="91425" marR="9525" marL="9525" anchor="b"/>
                </a:tc>
                <a:tc>
                  <a:txBody>
                    <a:bodyPr/>
                    <a:lstStyle/>
                    <a:p>
                      <a:pPr indent="0" lvl="0" marL="0" rtl="0" algn="l">
                        <a:spcBef>
                          <a:spcPts val="0"/>
                        </a:spcBef>
                        <a:spcAft>
                          <a:spcPts val="0"/>
                        </a:spcAft>
                        <a:buNone/>
                      </a:pPr>
                      <a:r>
                        <a:rPr lang="en" sz="1200"/>
                        <a:t>United States, China, Germany, India, Brazil</a:t>
                      </a:r>
                      <a:endParaRPr sz="1200"/>
                    </a:p>
                  </a:txBody>
                  <a:tcPr marT="9525" marB="91425" marR="9525" marL="9525" anchor="b"/>
                </a:tc>
                <a:tc>
                  <a:txBody>
                    <a:bodyPr/>
                    <a:lstStyle/>
                    <a:p>
                      <a:pPr indent="0" lvl="0" marL="0" rtl="0" algn="l">
                        <a:spcBef>
                          <a:spcPts val="0"/>
                        </a:spcBef>
                        <a:spcAft>
                          <a:spcPts val="0"/>
                        </a:spcAft>
                        <a:buNone/>
                      </a:pPr>
                      <a:r>
                        <a:rPr lang="en" sz="1200"/>
                        <a:t>Name of the country</a:t>
                      </a:r>
                      <a:endParaRPr sz="1200"/>
                    </a:p>
                  </a:txBody>
                  <a:tcPr marT="9525" marB="91425" marR="9525" marL="9525" anchor="b"/>
                </a:tc>
              </a:tr>
              <a:tr h="516100">
                <a:tc>
                  <a:txBody>
                    <a:bodyPr/>
                    <a:lstStyle/>
                    <a:p>
                      <a:pPr indent="0" lvl="0" marL="0" rtl="0" algn="l">
                        <a:spcBef>
                          <a:spcPts val="0"/>
                        </a:spcBef>
                        <a:spcAft>
                          <a:spcPts val="0"/>
                        </a:spcAft>
                        <a:buNone/>
                      </a:pPr>
                      <a:r>
                        <a:rPr lang="en" sz="1200"/>
                        <a:t>Continent</a:t>
                      </a:r>
                      <a:endParaRPr sz="1200"/>
                    </a:p>
                  </a:txBody>
                  <a:tcPr marT="9525" marB="91425" marR="9525" marL="9525" anchor="b"/>
                </a:tc>
                <a:tc>
                  <a:txBody>
                    <a:bodyPr/>
                    <a:lstStyle/>
                    <a:p>
                      <a:pPr indent="0" lvl="0" marL="0" rtl="0" algn="l">
                        <a:spcBef>
                          <a:spcPts val="0"/>
                        </a:spcBef>
                        <a:spcAft>
                          <a:spcPts val="0"/>
                        </a:spcAft>
                        <a:buNone/>
                      </a:pPr>
                      <a:r>
                        <a:rPr lang="en" sz="1200"/>
                        <a:t>Text</a:t>
                      </a:r>
                      <a:endParaRPr sz="1200"/>
                    </a:p>
                  </a:txBody>
                  <a:tcPr marT="9525" marB="91425" marR="9525" marL="9525" anchor="b"/>
                </a:tc>
                <a:tc>
                  <a:txBody>
                    <a:bodyPr/>
                    <a:lstStyle/>
                    <a:p>
                      <a:pPr indent="0" lvl="0" marL="0" rtl="0" algn="l">
                        <a:spcBef>
                          <a:spcPts val="0"/>
                        </a:spcBef>
                        <a:spcAft>
                          <a:spcPts val="0"/>
                        </a:spcAft>
                        <a:buNone/>
                      </a:pPr>
                      <a:r>
                        <a:rPr lang="en" sz="1200"/>
                        <a:t>Africa, Europe, Asia, North America, South America, Oceania</a:t>
                      </a:r>
                      <a:endParaRPr sz="1200"/>
                    </a:p>
                  </a:txBody>
                  <a:tcPr marT="9525" marB="91425" marR="9525" marL="9525" anchor="b"/>
                </a:tc>
                <a:tc>
                  <a:txBody>
                    <a:bodyPr/>
                    <a:lstStyle/>
                    <a:p>
                      <a:pPr indent="0" lvl="0" marL="0" rtl="0" algn="l">
                        <a:spcBef>
                          <a:spcPts val="0"/>
                        </a:spcBef>
                        <a:spcAft>
                          <a:spcPts val="0"/>
                        </a:spcAft>
                        <a:buNone/>
                      </a:pPr>
                      <a:r>
                        <a:rPr lang="en" sz="1200"/>
                        <a:t>Continent where the country is located</a:t>
                      </a:r>
                      <a:endParaRPr sz="1200"/>
                    </a:p>
                  </a:txBody>
                  <a:tcPr marT="9525" marB="91425" marR="9525" marL="9525" anchor="b"/>
                </a:tc>
              </a:tr>
              <a:tr h="314325">
                <a:tc>
                  <a:txBody>
                    <a:bodyPr/>
                    <a:lstStyle/>
                    <a:p>
                      <a:pPr indent="0" lvl="0" marL="0" rtl="0" algn="l">
                        <a:spcBef>
                          <a:spcPts val="0"/>
                        </a:spcBef>
                        <a:spcAft>
                          <a:spcPts val="0"/>
                        </a:spcAft>
                        <a:buNone/>
                      </a:pPr>
                      <a:r>
                        <a:rPr lang="en" sz="1200"/>
                        <a:t>Population</a:t>
                      </a:r>
                      <a:endParaRPr sz="1200"/>
                    </a:p>
                  </a:txBody>
                  <a:tcPr marT="9525" marB="91425" marR="9525" marL="9525" anchor="b"/>
                </a:tc>
                <a:tc>
                  <a:txBody>
                    <a:bodyPr/>
                    <a:lstStyle/>
                    <a:p>
                      <a:pPr indent="0" lvl="0" marL="0" rtl="0" algn="l">
                        <a:spcBef>
                          <a:spcPts val="0"/>
                        </a:spcBef>
                        <a:spcAft>
                          <a:spcPts val="0"/>
                        </a:spcAft>
                        <a:buNone/>
                      </a:pPr>
                      <a:r>
                        <a:rPr lang="en" sz="1200"/>
                        <a:t>Whole Number</a:t>
                      </a:r>
                      <a:endParaRPr sz="1200"/>
                    </a:p>
                  </a:txBody>
                  <a:tcPr marT="9525" marB="91425" marR="9525" marL="9525" anchor="b"/>
                </a:tc>
                <a:tc>
                  <a:txBody>
                    <a:bodyPr/>
                    <a:lstStyle/>
                    <a:p>
                      <a:pPr indent="0" lvl="0" marL="0" rtl="0" algn="l">
                        <a:spcBef>
                          <a:spcPts val="0"/>
                        </a:spcBef>
                        <a:spcAft>
                          <a:spcPts val="0"/>
                        </a:spcAft>
                        <a:buNone/>
                      </a:pPr>
                      <a:r>
                        <a:rPr lang="en" sz="1200"/>
                        <a:t>~4 to 1,400,000,000</a:t>
                      </a:r>
                      <a:endParaRPr sz="1200"/>
                    </a:p>
                  </a:txBody>
                  <a:tcPr marT="9525" marB="91425" marR="9525" marL="9525" anchor="b"/>
                </a:tc>
                <a:tc>
                  <a:txBody>
                    <a:bodyPr/>
                    <a:lstStyle/>
                    <a:p>
                      <a:pPr indent="0" lvl="0" marL="0" rtl="0" algn="l">
                        <a:spcBef>
                          <a:spcPts val="0"/>
                        </a:spcBef>
                        <a:spcAft>
                          <a:spcPts val="0"/>
                        </a:spcAft>
                        <a:buNone/>
                      </a:pPr>
                      <a:r>
                        <a:rPr lang="en" sz="1200"/>
                        <a:t>Total population of the country (2023)</a:t>
                      </a:r>
                      <a:endParaRPr sz="1200"/>
                    </a:p>
                  </a:txBody>
                  <a:tcPr marT="9525" marB="91425" marR="9525" marL="9525" anchor="b"/>
                </a:tc>
              </a:tr>
              <a:tr h="516100">
                <a:tc>
                  <a:txBody>
                    <a:bodyPr/>
                    <a:lstStyle/>
                    <a:p>
                      <a:pPr indent="0" lvl="0" marL="0" rtl="0" algn="l">
                        <a:spcBef>
                          <a:spcPts val="0"/>
                        </a:spcBef>
                        <a:spcAft>
                          <a:spcPts val="0"/>
                        </a:spcAft>
                        <a:buNone/>
                      </a:pPr>
                      <a:r>
                        <a:rPr lang="en" sz="1200"/>
                        <a:t>IMF GDP</a:t>
                      </a:r>
                      <a:endParaRPr sz="1200"/>
                    </a:p>
                  </a:txBody>
                  <a:tcPr marT="9525" marB="91425" marR="9525" marL="9525" anchor="b"/>
                </a:tc>
                <a:tc>
                  <a:txBody>
                    <a:bodyPr/>
                    <a:lstStyle/>
                    <a:p>
                      <a:pPr indent="0" lvl="0" marL="0" rtl="0" algn="l">
                        <a:spcBef>
                          <a:spcPts val="0"/>
                        </a:spcBef>
                        <a:spcAft>
                          <a:spcPts val="0"/>
                        </a:spcAft>
                        <a:buNone/>
                      </a:pPr>
                      <a:r>
                        <a:rPr lang="en" sz="1200"/>
                        <a:t>Decimal</a:t>
                      </a:r>
                      <a:endParaRPr sz="1200"/>
                    </a:p>
                  </a:txBody>
                  <a:tcPr marT="9525" marB="91425" marR="9525" marL="9525" anchor="b"/>
                </a:tc>
                <a:tc>
                  <a:txBody>
                    <a:bodyPr/>
                    <a:lstStyle/>
                    <a:p>
                      <a:pPr indent="0" lvl="0" marL="0" rtl="0" algn="l">
                        <a:spcBef>
                          <a:spcPts val="0"/>
                        </a:spcBef>
                        <a:spcAft>
                          <a:spcPts val="0"/>
                        </a:spcAft>
                        <a:buNone/>
                      </a:pPr>
                      <a:r>
                        <a:rPr lang="en" sz="1200"/>
                        <a:t>0 to ~26.7 trillion</a:t>
                      </a:r>
                      <a:endParaRPr sz="1200"/>
                    </a:p>
                  </a:txBody>
                  <a:tcPr marT="9525" marB="91425" marR="9525" marL="9525" anchor="b"/>
                </a:tc>
                <a:tc>
                  <a:txBody>
                    <a:bodyPr/>
                    <a:lstStyle/>
                    <a:p>
                      <a:pPr indent="0" lvl="0" marL="0" rtl="0" algn="l">
                        <a:spcBef>
                          <a:spcPts val="0"/>
                        </a:spcBef>
                        <a:spcAft>
                          <a:spcPts val="0"/>
                        </a:spcAft>
                        <a:buNone/>
                      </a:pPr>
                      <a:r>
                        <a:rPr lang="en" sz="1200"/>
                        <a:t>GDP reported by the International Monetary Fund</a:t>
                      </a:r>
                      <a:endParaRPr sz="1200"/>
                    </a:p>
                  </a:txBody>
                  <a:tcPr marT="9525" marB="91425" marR="9525" marL="9525" anchor="b"/>
                </a:tc>
              </a:tr>
              <a:tr h="314325">
                <a:tc>
                  <a:txBody>
                    <a:bodyPr/>
                    <a:lstStyle/>
                    <a:p>
                      <a:pPr indent="0" lvl="0" marL="0" rtl="0" algn="l">
                        <a:spcBef>
                          <a:spcPts val="0"/>
                        </a:spcBef>
                        <a:spcAft>
                          <a:spcPts val="0"/>
                        </a:spcAft>
                        <a:buNone/>
                      </a:pPr>
                      <a:r>
                        <a:rPr lang="en" sz="1200"/>
                        <a:t>UN GDP</a:t>
                      </a:r>
                      <a:endParaRPr sz="1200"/>
                    </a:p>
                  </a:txBody>
                  <a:tcPr marT="9525" marB="91425" marR="9525" marL="9525" anchor="b"/>
                </a:tc>
                <a:tc>
                  <a:txBody>
                    <a:bodyPr/>
                    <a:lstStyle/>
                    <a:p>
                      <a:pPr indent="0" lvl="0" marL="0" rtl="0" algn="l">
                        <a:spcBef>
                          <a:spcPts val="0"/>
                        </a:spcBef>
                        <a:spcAft>
                          <a:spcPts val="0"/>
                        </a:spcAft>
                        <a:buNone/>
                      </a:pPr>
                      <a:r>
                        <a:rPr lang="en" sz="1200"/>
                        <a:t>Decimal</a:t>
                      </a:r>
                      <a:endParaRPr sz="1200"/>
                    </a:p>
                  </a:txBody>
                  <a:tcPr marT="9525" marB="91425" marR="9525" marL="9525" anchor="b"/>
                </a:tc>
                <a:tc>
                  <a:txBody>
                    <a:bodyPr/>
                    <a:lstStyle/>
                    <a:p>
                      <a:pPr indent="0" lvl="0" marL="0" rtl="0" algn="l">
                        <a:spcBef>
                          <a:spcPts val="0"/>
                        </a:spcBef>
                        <a:spcAft>
                          <a:spcPts val="0"/>
                        </a:spcAft>
                        <a:buNone/>
                      </a:pPr>
                      <a:r>
                        <a:rPr lang="en" sz="1200"/>
                        <a:t>0 to ~18.6 trillion</a:t>
                      </a:r>
                      <a:endParaRPr sz="1200"/>
                    </a:p>
                  </a:txBody>
                  <a:tcPr marT="9525" marB="91425" marR="9525" marL="9525" anchor="b"/>
                </a:tc>
                <a:tc>
                  <a:txBody>
                    <a:bodyPr/>
                    <a:lstStyle/>
                    <a:p>
                      <a:pPr indent="0" lvl="0" marL="0" rtl="0" algn="l">
                        <a:spcBef>
                          <a:spcPts val="0"/>
                        </a:spcBef>
                        <a:spcAft>
                          <a:spcPts val="0"/>
                        </a:spcAft>
                        <a:buNone/>
                      </a:pPr>
                      <a:r>
                        <a:rPr lang="en" sz="1200"/>
                        <a:t>GDP reported by the United Nations</a:t>
                      </a:r>
                      <a:endParaRPr sz="1200"/>
                    </a:p>
                  </a:txBody>
                  <a:tcPr marT="9525" marB="91425" marR="9525" marL="9525" anchor="b"/>
                </a:tc>
              </a:tr>
              <a:tr h="314325">
                <a:tc>
                  <a:txBody>
                    <a:bodyPr/>
                    <a:lstStyle/>
                    <a:p>
                      <a:pPr indent="0" lvl="0" marL="0" rtl="0" algn="l">
                        <a:spcBef>
                          <a:spcPts val="0"/>
                        </a:spcBef>
                        <a:spcAft>
                          <a:spcPts val="0"/>
                        </a:spcAft>
                        <a:buNone/>
                      </a:pPr>
                      <a:r>
                        <a:rPr lang="en" sz="1200"/>
                        <a:t>GDP per Capita</a:t>
                      </a:r>
                      <a:endParaRPr sz="1200"/>
                    </a:p>
                  </a:txBody>
                  <a:tcPr marT="9525" marB="91425" marR="9525" marL="9525" anchor="b"/>
                </a:tc>
                <a:tc>
                  <a:txBody>
                    <a:bodyPr/>
                    <a:lstStyle/>
                    <a:p>
                      <a:pPr indent="0" lvl="0" marL="0" rtl="0" algn="l">
                        <a:spcBef>
                          <a:spcPts val="0"/>
                        </a:spcBef>
                        <a:spcAft>
                          <a:spcPts val="0"/>
                        </a:spcAft>
                        <a:buNone/>
                      </a:pPr>
                      <a:r>
                        <a:rPr lang="en" sz="1200"/>
                        <a:t>Decimal</a:t>
                      </a:r>
                      <a:endParaRPr sz="1200"/>
                    </a:p>
                  </a:txBody>
                  <a:tcPr marT="9525" marB="91425" marR="9525" marL="9525" anchor="b"/>
                </a:tc>
                <a:tc>
                  <a:txBody>
                    <a:bodyPr/>
                    <a:lstStyle/>
                    <a:p>
                      <a:pPr indent="0" lvl="0" marL="0" rtl="0" algn="l">
                        <a:spcBef>
                          <a:spcPts val="0"/>
                        </a:spcBef>
                        <a:spcAft>
                          <a:spcPts val="0"/>
                        </a:spcAft>
                        <a:buNone/>
                      </a:pPr>
                      <a:r>
                        <a:rPr lang="en" sz="1200"/>
                        <a:t>278.43 to 178,196.57</a:t>
                      </a:r>
                      <a:endParaRPr sz="1200"/>
                    </a:p>
                  </a:txBody>
                  <a:tcPr marT="9525" marB="91425" marR="9525" marL="9525" anchor="b"/>
                </a:tc>
                <a:tc>
                  <a:txBody>
                    <a:bodyPr/>
                    <a:lstStyle/>
                    <a:p>
                      <a:pPr indent="0" lvl="0" marL="0" rtl="0" algn="l">
                        <a:spcBef>
                          <a:spcPts val="0"/>
                        </a:spcBef>
                        <a:spcAft>
                          <a:spcPts val="0"/>
                        </a:spcAft>
                        <a:buNone/>
                      </a:pPr>
                      <a:r>
                        <a:rPr lang="en" sz="1200"/>
                        <a:t>GDP per person (GDP ÷ Population)</a:t>
                      </a:r>
                      <a:endParaRPr sz="1200"/>
                    </a:p>
                  </a:txBody>
                  <a:tcPr marT="9525" marB="91425" marR="9525" marL="9525" anchor="b"/>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p:nvPr/>
        </p:nvSpPr>
        <p:spPr>
          <a:xfrm>
            <a:off x="0" y="0"/>
            <a:ext cx="9144000" cy="9525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24"/>
          <p:cNvSpPr txBox="1"/>
          <p:nvPr/>
        </p:nvSpPr>
        <p:spPr>
          <a:xfrm>
            <a:off x="381000" y="0"/>
            <a:ext cx="8382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500">
                <a:solidFill>
                  <a:srgbClr val="FFFFFF"/>
                </a:solidFill>
                <a:latin typeface="Inter"/>
                <a:ea typeface="Inter"/>
                <a:cs typeface="Inter"/>
                <a:sym typeface="Inter"/>
              </a:rPr>
              <a:t>Global </a:t>
            </a:r>
            <a:r>
              <a:rPr b="1" lang="en" sz="2500">
                <a:solidFill>
                  <a:srgbClr val="FFFFFF"/>
                </a:solidFill>
                <a:latin typeface="Inter"/>
                <a:ea typeface="Inter"/>
                <a:cs typeface="Inter"/>
                <a:sym typeface="Inter"/>
              </a:rPr>
              <a:t>Industry Metrics</a:t>
            </a:r>
            <a:r>
              <a:rPr b="1" lang="en" sz="2500">
                <a:solidFill>
                  <a:srgbClr val="FFFFFF"/>
                </a:solidFill>
                <a:latin typeface="Inter"/>
                <a:ea typeface="Inter"/>
                <a:cs typeface="Inter"/>
                <a:sym typeface="Inter"/>
              </a:rPr>
              <a:t> </a:t>
            </a:r>
            <a:r>
              <a:rPr b="1" lang="en" sz="2500">
                <a:solidFill>
                  <a:srgbClr val="FFFFFF"/>
                </a:solidFill>
                <a:latin typeface="Inter"/>
                <a:ea typeface="Inter"/>
                <a:cs typeface="Inter"/>
                <a:sym typeface="Inter"/>
              </a:rPr>
              <a:t>Dimension Table</a:t>
            </a:r>
            <a:r>
              <a:rPr b="1" lang="en" sz="2500">
                <a:solidFill>
                  <a:srgbClr val="FFFFFF"/>
                </a:solidFill>
                <a:latin typeface="Inter"/>
                <a:ea typeface="Inter"/>
                <a:cs typeface="Inter"/>
                <a:sym typeface="Inter"/>
              </a:rPr>
              <a:t> </a:t>
            </a:r>
            <a:r>
              <a:rPr b="1" lang="en" sz="2500">
                <a:solidFill>
                  <a:srgbClr val="FFFFFF"/>
                </a:solidFill>
                <a:latin typeface="Inter"/>
                <a:ea typeface="Inter"/>
                <a:cs typeface="Inter"/>
                <a:sym typeface="Inter"/>
              </a:rPr>
              <a:t>Metadata </a:t>
            </a:r>
            <a:endParaRPr b="1" sz="2500">
              <a:solidFill>
                <a:srgbClr val="FFFFFF"/>
              </a:solidFill>
              <a:latin typeface="Inter"/>
              <a:ea typeface="Inter"/>
              <a:cs typeface="Inter"/>
              <a:sym typeface="Inter"/>
            </a:endParaRPr>
          </a:p>
        </p:txBody>
      </p:sp>
      <p:graphicFrame>
        <p:nvGraphicFramePr>
          <p:cNvPr id="146" name="Google Shape;146;p24"/>
          <p:cNvGraphicFramePr/>
          <p:nvPr/>
        </p:nvGraphicFramePr>
        <p:xfrm>
          <a:off x="47625" y="1262925"/>
          <a:ext cx="3000000" cy="3000000"/>
        </p:xfrm>
        <a:graphic>
          <a:graphicData uri="http://schemas.openxmlformats.org/drawingml/2006/table">
            <a:tbl>
              <a:tblPr>
                <a:noFill/>
                <a:tableStyleId>{6D92E9AD-301D-4BE4-A85D-654F0F8D4CFA}</a:tableStyleId>
              </a:tblPr>
              <a:tblGrid>
                <a:gridCol w="1733550"/>
                <a:gridCol w="904875"/>
                <a:gridCol w="3371850"/>
                <a:gridCol w="3038475"/>
              </a:tblGrid>
              <a:tr h="190500">
                <a:tc>
                  <a:txBody>
                    <a:bodyPr/>
                    <a:lstStyle/>
                    <a:p>
                      <a:pPr indent="0" lvl="0" marL="0" rtl="0" algn="ctr">
                        <a:lnSpc>
                          <a:spcPct val="115000"/>
                        </a:lnSpc>
                        <a:spcBef>
                          <a:spcPts val="0"/>
                        </a:spcBef>
                        <a:spcAft>
                          <a:spcPts val="0"/>
                        </a:spcAft>
                        <a:buNone/>
                      </a:pPr>
                      <a:r>
                        <a:rPr b="1" lang="en" sz="1100"/>
                        <a:t>Column Name</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Data Type</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Valid Values / Sample Values</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Description</a:t>
                      </a:r>
                      <a:endParaRPr b="1" sz="1100"/>
                    </a:p>
                  </a:txBody>
                  <a:tcPr marT="91425" marB="91425" marR="91425" marL="91425"/>
                </a:tc>
              </a:tr>
              <a:tr h="361950">
                <a:tc>
                  <a:txBody>
                    <a:bodyPr/>
                    <a:lstStyle/>
                    <a:p>
                      <a:pPr indent="0" lvl="0" marL="0" rtl="0" algn="l">
                        <a:spcBef>
                          <a:spcPts val="0"/>
                        </a:spcBef>
                        <a:spcAft>
                          <a:spcPts val="0"/>
                        </a:spcAft>
                        <a:buNone/>
                      </a:pPr>
                      <a:r>
                        <a:rPr lang="en"/>
                        <a:t>Industry</a:t>
                      </a:r>
                      <a:endParaRPr/>
                    </a:p>
                  </a:txBody>
                  <a:tcPr marT="91425" marB="91425" marR="91425" marL="91425"/>
                </a:tc>
                <a:tc>
                  <a:txBody>
                    <a:bodyPr/>
                    <a:lstStyle/>
                    <a:p>
                      <a:pPr indent="0" lvl="0" marL="0" rtl="0" algn="l">
                        <a:spcBef>
                          <a:spcPts val="0"/>
                        </a:spcBef>
                        <a:spcAft>
                          <a:spcPts val="0"/>
                        </a:spcAft>
                        <a:buNone/>
                      </a:pPr>
                      <a:r>
                        <a:rPr lang="en"/>
                        <a:t>Text</a:t>
                      </a:r>
                      <a:endParaRPr/>
                    </a:p>
                  </a:txBody>
                  <a:tcPr marT="91425" marB="91425" marR="91425" marL="91425"/>
                </a:tc>
                <a:tc>
                  <a:txBody>
                    <a:bodyPr/>
                    <a:lstStyle/>
                    <a:p>
                      <a:pPr indent="0" lvl="0" marL="0" rtl="0" algn="l">
                        <a:spcBef>
                          <a:spcPts val="0"/>
                        </a:spcBef>
                        <a:spcAft>
                          <a:spcPts val="0"/>
                        </a:spcAft>
                        <a:buNone/>
                      </a:pPr>
                      <a:r>
                        <a:rPr lang="en"/>
                        <a:t>Tech, Healthcare, Finance, Consulting, Manufacturing, Other</a:t>
                      </a:r>
                      <a:endParaRPr/>
                    </a:p>
                  </a:txBody>
                  <a:tcPr marT="91425" marB="91425" marR="91425" marL="91425"/>
                </a:tc>
                <a:tc>
                  <a:txBody>
                    <a:bodyPr/>
                    <a:lstStyle/>
                    <a:p>
                      <a:pPr indent="0" lvl="0" marL="0" rtl="0" algn="l">
                        <a:spcBef>
                          <a:spcPts val="0"/>
                        </a:spcBef>
                        <a:spcAft>
                          <a:spcPts val="0"/>
                        </a:spcAft>
                        <a:buNone/>
                      </a:pPr>
                      <a:r>
                        <a:rPr lang="en"/>
                        <a:t>Industry sector in which students are employed</a:t>
                      </a:r>
                      <a:endParaRPr/>
                    </a:p>
                  </a:txBody>
                  <a:tcPr marT="91425" marB="91425" marR="91425" marL="91425"/>
                </a:tc>
              </a:tr>
              <a:tr h="361950">
                <a:tc>
                  <a:txBody>
                    <a:bodyPr/>
                    <a:lstStyle/>
                    <a:p>
                      <a:pPr indent="0" lvl="0" marL="0" rtl="0" algn="l">
                        <a:spcBef>
                          <a:spcPts val="0"/>
                        </a:spcBef>
                        <a:spcAft>
                          <a:spcPts val="0"/>
                        </a:spcAft>
                        <a:buNone/>
                      </a:pPr>
                      <a:r>
                        <a:rPr lang="en"/>
                        <a:t>Market Avg Salary</a:t>
                      </a:r>
                      <a:endParaRPr/>
                    </a:p>
                  </a:txBody>
                  <a:tcPr marT="91425" marB="91425" marR="91425" marL="91425"/>
                </a:tc>
                <a:tc>
                  <a:txBody>
                    <a:bodyPr/>
                    <a:lstStyle/>
                    <a:p>
                      <a:pPr indent="0" lvl="0" marL="0" rtl="0" algn="l">
                        <a:spcBef>
                          <a:spcPts val="0"/>
                        </a:spcBef>
                        <a:spcAft>
                          <a:spcPts val="0"/>
                        </a:spcAft>
                        <a:buNone/>
                      </a:pPr>
                      <a:r>
                        <a:rPr lang="en"/>
                        <a:t>Whole Number</a:t>
                      </a:r>
                      <a:endParaRPr/>
                    </a:p>
                  </a:txBody>
                  <a:tcPr marT="91425" marB="91425" marR="91425" marL="91425"/>
                </a:tc>
                <a:tc>
                  <a:txBody>
                    <a:bodyPr/>
                    <a:lstStyle/>
                    <a:p>
                      <a:pPr indent="0" lvl="0" marL="0" rtl="0" algn="l">
                        <a:spcBef>
                          <a:spcPts val="0"/>
                        </a:spcBef>
                        <a:spcAft>
                          <a:spcPts val="0"/>
                        </a:spcAft>
                        <a:buNone/>
                      </a:pPr>
                      <a:r>
                        <a:rPr lang="en"/>
                        <a:t>65,000–115,000</a:t>
                      </a:r>
                      <a:endParaRPr/>
                    </a:p>
                  </a:txBody>
                  <a:tcPr marT="91425" marB="91425" marR="91425" marL="91425"/>
                </a:tc>
                <a:tc>
                  <a:txBody>
                    <a:bodyPr/>
                    <a:lstStyle/>
                    <a:p>
                      <a:pPr indent="0" lvl="0" marL="0" rtl="0" algn="l">
                        <a:spcBef>
                          <a:spcPts val="0"/>
                        </a:spcBef>
                        <a:spcAft>
                          <a:spcPts val="0"/>
                        </a:spcAft>
                        <a:buNone/>
                      </a:pPr>
                      <a:r>
                        <a:rPr lang="en"/>
                        <a:t>Average salary offered in each industry</a:t>
                      </a:r>
                      <a:endParaRPr/>
                    </a:p>
                  </a:txBody>
                  <a:tcPr marT="91425" marB="91425" marR="91425" marL="91425"/>
                </a:tc>
              </a:tr>
              <a:tr h="190500">
                <a:tc>
                  <a:txBody>
                    <a:bodyPr/>
                    <a:lstStyle/>
                    <a:p>
                      <a:pPr indent="0" lvl="0" marL="0" rtl="0" algn="l">
                        <a:spcBef>
                          <a:spcPts val="0"/>
                        </a:spcBef>
                        <a:spcAft>
                          <a:spcPts val="0"/>
                        </a:spcAft>
                        <a:buNone/>
                      </a:pPr>
                      <a:r>
                        <a:rPr lang="en"/>
                        <a:t>Projected Growth Rate</a:t>
                      </a:r>
                      <a:endParaRPr/>
                    </a:p>
                  </a:txBody>
                  <a:tcPr marT="91425" marB="91425" marR="91425" marL="91425"/>
                </a:tc>
                <a:tc>
                  <a:txBody>
                    <a:bodyPr/>
                    <a:lstStyle/>
                    <a:p>
                      <a:pPr indent="0" lvl="0" marL="0" rtl="0" algn="l">
                        <a:spcBef>
                          <a:spcPts val="0"/>
                        </a:spcBef>
                        <a:spcAft>
                          <a:spcPts val="0"/>
                        </a:spcAft>
                        <a:buNone/>
                      </a:pPr>
                      <a:r>
                        <a:rPr lang="en"/>
                        <a:t>Decimal</a:t>
                      </a:r>
                      <a:endParaRPr/>
                    </a:p>
                  </a:txBody>
                  <a:tcPr marT="91425" marB="91425" marR="91425" marL="91425"/>
                </a:tc>
                <a:tc>
                  <a:txBody>
                    <a:bodyPr/>
                    <a:lstStyle/>
                    <a:p>
                      <a:pPr indent="0" lvl="0" marL="0" rtl="0" algn="l">
                        <a:spcBef>
                          <a:spcPts val="0"/>
                        </a:spcBef>
                        <a:spcAft>
                          <a:spcPts val="0"/>
                        </a:spcAft>
                        <a:buNone/>
                      </a:pPr>
                      <a:r>
                        <a:rPr lang="en"/>
                        <a:t>3.2–8.5</a:t>
                      </a:r>
                      <a:endParaRPr/>
                    </a:p>
                  </a:txBody>
                  <a:tcPr marT="91425" marB="91425" marR="91425" marL="91425"/>
                </a:tc>
                <a:tc>
                  <a:txBody>
                    <a:bodyPr/>
                    <a:lstStyle/>
                    <a:p>
                      <a:pPr indent="0" lvl="0" marL="0" rtl="0" algn="l">
                        <a:spcBef>
                          <a:spcPts val="0"/>
                        </a:spcBef>
                        <a:spcAft>
                          <a:spcPts val="0"/>
                        </a:spcAft>
                        <a:buNone/>
                      </a:pPr>
                      <a:r>
                        <a:rPr lang="en"/>
                        <a:t>Expected annual growth rate (%) of the industry</a:t>
                      </a:r>
                      <a:endParaRPr/>
                    </a:p>
                  </a:txBody>
                  <a:tcPr marT="91425" marB="91425" marR="91425" marL="91425"/>
                </a:tc>
              </a:tr>
              <a:tr h="361950">
                <a:tc>
                  <a:txBody>
                    <a:bodyPr/>
                    <a:lstStyle/>
                    <a:p>
                      <a:pPr indent="0" lvl="0" marL="0" rtl="0" algn="l">
                        <a:spcBef>
                          <a:spcPts val="0"/>
                        </a:spcBef>
                        <a:spcAft>
                          <a:spcPts val="0"/>
                        </a:spcAft>
                        <a:buNone/>
                      </a:pPr>
                      <a:r>
                        <a:rPr lang="en"/>
                        <a:t>Global Market Value (Billions)</a:t>
                      </a:r>
                      <a:endParaRPr/>
                    </a:p>
                  </a:txBody>
                  <a:tcPr marT="91425" marB="91425" marR="91425" marL="91425"/>
                </a:tc>
                <a:tc>
                  <a:txBody>
                    <a:bodyPr/>
                    <a:lstStyle/>
                    <a:p>
                      <a:pPr indent="0" lvl="0" marL="0" rtl="0" algn="l">
                        <a:spcBef>
                          <a:spcPts val="0"/>
                        </a:spcBef>
                        <a:spcAft>
                          <a:spcPts val="0"/>
                        </a:spcAft>
                        <a:buNone/>
                      </a:pPr>
                      <a:r>
                        <a:rPr lang="en"/>
                        <a:t>Whole Number</a:t>
                      </a:r>
                      <a:endParaRPr/>
                    </a:p>
                  </a:txBody>
                  <a:tcPr marT="91425" marB="91425" marR="91425" marL="91425"/>
                </a:tc>
                <a:tc>
                  <a:txBody>
                    <a:bodyPr/>
                    <a:lstStyle/>
                    <a:p>
                      <a:pPr indent="0" lvl="0" marL="0" rtl="0" algn="l">
                        <a:spcBef>
                          <a:spcPts val="0"/>
                        </a:spcBef>
                        <a:spcAft>
                          <a:spcPts val="0"/>
                        </a:spcAft>
                        <a:buNone/>
                      </a:pPr>
                      <a:r>
                        <a:rPr lang="en"/>
                        <a:t>900–22,500</a:t>
                      </a:r>
                      <a:endParaRPr/>
                    </a:p>
                  </a:txBody>
                  <a:tcPr marT="91425" marB="91425" marR="91425" marL="91425"/>
                </a:tc>
                <a:tc>
                  <a:txBody>
                    <a:bodyPr/>
                    <a:lstStyle/>
                    <a:p>
                      <a:pPr indent="0" lvl="0" marL="0" rtl="0" algn="l">
                        <a:spcBef>
                          <a:spcPts val="0"/>
                        </a:spcBef>
                        <a:spcAft>
                          <a:spcPts val="0"/>
                        </a:spcAft>
                        <a:buNone/>
                      </a:pPr>
                      <a:r>
                        <a:rPr lang="en"/>
                        <a:t>Total global market size of the industry in billions USD</a:t>
                      </a:r>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0" name="Shape 150"/>
        <p:cNvGrpSpPr/>
        <p:nvPr/>
      </p:nvGrpSpPr>
      <p:grpSpPr>
        <a:xfrm>
          <a:off x="0" y="0"/>
          <a:ext cx="0" cy="0"/>
          <a:chOff x="0" y="0"/>
          <a:chExt cx="0" cy="0"/>
        </a:xfrm>
      </p:grpSpPr>
      <p:grpSp>
        <p:nvGrpSpPr>
          <p:cNvPr id="151" name="Google Shape;151;p25"/>
          <p:cNvGrpSpPr/>
          <p:nvPr/>
        </p:nvGrpSpPr>
        <p:grpSpPr>
          <a:xfrm>
            <a:off x="0" y="0"/>
            <a:ext cx="9144000" cy="952500"/>
            <a:chOff x="0" y="0"/>
            <a:chExt cx="9144000" cy="952500"/>
          </a:xfrm>
        </p:grpSpPr>
        <p:sp>
          <p:nvSpPr>
            <p:cNvPr id="152" name="Google Shape;152;p25"/>
            <p:cNvSpPr/>
            <p:nvPr/>
          </p:nvSpPr>
          <p:spPr>
            <a:xfrm>
              <a:off x="0" y="0"/>
              <a:ext cx="9144000" cy="9525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 name="Google Shape;153;p25"/>
            <p:cNvSpPr txBox="1"/>
            <p:nvPr/>
          </p:nvSpPr>
          <p:spPr>
            <a:xfrm>
              <a:off x="381000" y="0"/>
              <a:ext cx="8382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3200">
                  <a:solidFill>
                    <a:srgbClr val="FFFFFF"/>
                  </a:solidFill>
                  <a:latin typeface="Inter"/>
                  <a:ea typeface="Inter"/>
                  <a:cs typeface="Inter"/>
                  <a:sym typeface="Inter"/>
                </a:rPr>
                <a:t>Building the Data Model</a:t>
              </a:r>
              <a:endParaRPr b="1" sz="3200">
                <a:solidFill>
                  <a:srgbClr val="FFFFFF"/>
                </a:solidFill>
                <a:latin typeface="Inter"/>
                <a:ea typeface="Inter"/>
                <a:cs typeface="Inter"/>
                <a:sym typeface="Inter"/>
              </a:endParaRPr>
            </a:p>
          </p:txBody>
        </p:sp>
      </p:grpSp>
      <p:grpSp>
        <p:nvGrpSpPr>
          <p:cNvPr id="154" name="Google Shape;154;p25"/>
          <p:cNvGrpSpPr/>
          <p:nvPr/>
        </p:nvGrpSpPr>
        <p:grpSpPr>
          <a:xfrm>
            <a:off x="381000" y="1238250"/>
            <a:ext cx="8382000" cy="3619500"/>
            <a:chOff x="381000" y="1238250"/>
            <a:chExt cx="8382000" cy="3619500"/>
          </a:xfrm>
        </p:grpSpPr>
        <p:sp>
          <p:nvSpPr>
            <p:cNvPr id="155" name="Google Shape;155;p25"/>
            <p:cNvSpPr/>
            <p:nvPr/>
          </p:nvSpPr>
          <p:spPr>
            <a:xfrm>
              <a:off x="381000" y="1238250"/>
              <a:ext cx="8382000" cy="3619500"/>
            </a:xfrm>
            <a:prstGeom prst="roundRect">
              <a:avLst>
                <a:gd fmla="val 315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 name="Google Shape;156;p25"/>
            <p:cNvSpPr txBox="1"/>
            <p:nvPr/>
          </p:nvSpPr>
          <p:spPr>
            <a:xfrm>
              <a:off x="571500" y="1428750"/>
              <a:ext cx="2857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400">
                  <a:solidFill>
                    <a:srgbClr val="475569"/>
                  </a:solidFill>
                  <a:latin typeface="Inter SemiBold"/>
                  <a:ea typeface="Inter SemiBold"/>
                  <a:cs typeface="Inter SemiBold"/>
                  <a:sym typeface="Inter SemiBold"/>
                </a:rPr>
                <a:t>Entity Relationship Diagram</a:t>
              </a:r>
              <a:endParaRPr b="0" sz="1400">
                <a:solidFill>
                  <a:srgbClr val="475569"/>
                </a:solidFill>
                <a:latin typeface="Inter SemiBold"/>
                <a:ea typeface="Inter SemiBold"/>
                <a:cs typeface="Inter SemiBold"/>
                <a:sym typeface="Inter SemiBold"/>
              </a:endParaRPr>
            </a:p>
          </p:txBody>
        </p:sp>
        <p:pic>
          <p:nvPicPr>
            <p:cNvPr id="157" name="Google Shape;157;p25"/>
            <p:cNvPicPr preferRelativeResize="0"/>
            <p:nvPr/>
          </p:nvPicPr>
          <p:blipFill rotWithShape="1">
            <a:blip r:embed="rId4">
              <a:alphaModFix/>
            </a:blip>
            <a:srcRect b="9443" l="0" r="0" t="9435"/>
            <a:stretch/>
          </p:blipFill>
          <p:spPr>
            <a:xfrm>
              <a:off x="381000" y="1765950"/>
              <a:ext cx="8382000" cy="3091800"/>
            </a:xfrm>
            <a:prstGeom prst="roundRect">
              <a:avLst>
                <a:gd fmla="val 2580" name="adj"/>
              </a:avLst>
            </a:prstGeom>
            <a:noFill/>
            <a:ln>
              <a:noFill/>
            </a:ln>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1" name="Shape 161"/>
        <p:cNvGrpSpPr/>
        <p:nvPr/>
      </p:nvGrpSpPr>
      <p:grpSpPr>
        <a:xfrm>
          <a:off x="0" y="0"/>
          <a:ext cx="0" cy="0"/>
          <a:chOff x="0" y="0"/>
          <a:chExt cx="0" cy="0"/>
        </a:xfrm>
      </p:grpSpPr>
      <p:grpSp>
        <p:nvGrpSpPr>
          <p:cNvPr id="162" name="Google Shape;162;p26"/>
          <p:cNvGrpSpPr/>
          <p:nvPr/>
        </p:nvGrpSpPr>
        <p:grpSpPr>
          <a:xfrm>
            <a:off x="0" y="0"/>
            <a:ext cx="9144000" cy="952500"/>
            <a:chOff x="0" y="0"/>
            <a:chExt cx="9144000" cy="952500"/>
          </a:xfrm>
        </p:grpSpPr>
        <p:sp>
          <p:nvSpPr>
            <p:cNvPr id="163" name="Google Shape;163;p26"/>
            <p:cNvSpPr/>
            <p:nvPr/>
          </p:nvSpPr>
          <p:spPr>
            <a:xfrm>
              <a:off x="0" y="0"/>
              <a:ext cx="9144000" cy="9525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26"/>
            <p:cNvSpPr txBox="1"/>
            <p:nvPr/>
          </p:nvSpPr>
          <p:spPr>
            <a:xfrm>
              <a:off x="381000" y="0"/>
              <a:ext cx="8382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200">
                  <a:solidFill>
                    <a:srgbClr val="FFFFFF"/>
                  </a:solidFill>
                  <a:latin typeface="Inter"/>
                  <a:ea typeface="Inter"/>
                  <a:cs typeface="Inter"/>
                  <a:sym typeface="Inter"/>
                </a:rPr>
                <a:t>Average Salary by Industry</a:t>
              </a:r>
              <a:endParaRPr b="1" sz="3200">
                <a:solidFill>
                  <a:srgbClr val="FFFFFF"/>
                </a:solidFill>
                <a:latin typeface="Inter"/>
                <a:ea typeface="Inter"/>
                <a:cs typeface="Inter"/>
                <a:sym typeface="Inter"/>
              </a:endParaRPr>
            </a:p>
          </p:txBody>
        </p:sp>
      </p:grpSp>
      <p:grpSp>
        <p:nvGrpSpPr>
          <p:cNvPr id="165" name="Google Shape;165;p26"/>
          <p:cNvGrpSpPr/>
          <p:nvPr/>
        </p:nvGrpSpPr>
        <p:grpSpPr>
          <a:xfrm>
            <a:off x="381000" y="1269425"/>
            <a:ext cx="8382000" cy="3619500"/>
            <a:chOff x="381000" y="1269425"/>
            <a:chExt cx="8382000" cy="3619500"/>
          </a:xfrm>
        </p:grpSpPr>
        <p:sp>
          <p:nvSpPr>
            <p:cNvPr id="166" name="Google Shape;166;p26"/>
            <p:cNvSpPr/>
            <p:nvPr/>
          </p:nvSpPr>
          <p:spPr>
            <a:xfrm>
              <a:off x="381000" y="1269425"/>
              <a:ext cx="8382000" cy="3619500"/>
            </a:xfrm>
            <a:prstGeom prst="roundRect">
              <a:avLst>
                <a:gd fmla="val 315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7" name="Google Shape;167;p26"/>
            <p:cNvSpPr txBox="1"/>
            <p:nvPr/>
          </p:nvSpPr>
          <p:spPr>
            <a:xfrm>
              <a:off x="666750" y="1524000"/>
              <a:ext cx="32385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60">
                  <a:solidFill>
                    <a:srgbClr val="1E293B"/>
                  </a:solidFill>
                  <a:latin typeface="Inter SemiBold"/>
                  <a:ea typeface="Inter SemiBold"/>
                  <a:cs typeface="Inter SemiBold"/>
                  <a:sym typeface="Inter SemiBold"/>
                </a:rPr>
                <a:t>Key Insights</a:t>
              </a:r>
              <a:endParaRPr b="0" sz="1360">
                <a:solidFill>
                  <a:srgbClr val="1E293B"/>
                </a:solidFill>
                <a:latin typeface="Inter SemiBold"/>
                <a:ea typeface="Inter SemiBold"/>
                <a:cs typeface="Inter SemiBold"/>
                <a:sym typeface="Inter SemiBold"/>
              </a:endParaRPr>
            </a:p>
            <a:p>
              <a:pPr indent="0" lvl="0" marL="0" rtl="0" algn="l">
                <a:spcBef>
                  <a:spcPts val="1500"/>
                </a:spcBef>
                <a:spcAft>
                  <a:spcPts val="0"/>
                </a:spcAft>
                <a:buNone/>
              </a:pPr>
              <a:r>
                <a:rPr lang="en" sz="1360">
                  <a:solidFill>
                    <a:srgbClr val="475569"/>
                  </a:solidFill>
                  <a:latin typeface="Inter"/>
                  <a:ea typeface="Inter"/>
                  <a:cs typeface="Inter"/>
                  <a:sym typeface="Inter"/>
                </a:rPr>
                <a:t>The industry a student chooses heavily dictates their baseline starting salary.</a:t>
              </a:r>
              <a:endParaRPr sz="1360">
                <a:solidFill>
                  <a:srgbClr val="475569"/>
                </a:solidFill>
                <a:latin typeface="Inter"/>
                <a:ea typeface="Inter"/>
                <a:cs typeface="Inter"/>
                <a:sym typeface="Inter"/>
              </a:endParaRPr>
            </a:p>
            <a:p>
              <a:pPr indent="0" lvl="0" marL="0" rtl="0" algn="l">
                <a:spcBef>
                  <a:spcPts val="1125"/>
                </a:spcBef>
                <a:spcAft>
                  <a:spcPts val="0"/>
                </a:spcAft>
                <a:buNone/>
              </a:pPr>
              <a:r>
                <a:rPr b="0" lang="en" sz="1360">
                  <a:solidFill>
                    <a:srgbClr val="0F172A"/>
                  </a:solidFill>
                  <a:latin typeface="Inter SemiBold"/>
                  <a:ea typeface="Inter SemiBold"/>
                  <a:cs typeface="Inter SemiBold"/>
                  <a:sym typeface="Inter SemiBold"/>
                </a:rPr>
                <a:t>Tech and Healthcare</a:t>
              </a:r>
              <a:r>
                <a:rPr lang="en" sz="1360">
                  <a:solidFill>
                    <a:srgbClr val="475569"/>
                  </a:solidFill>
                  <a:latin typeface="Inter"/>
                  <a:ea typeface="Inter"/>
                  <a:cs typeface="Inter"/>
                  <a:sym typeface="Inter"/>
                </a:rPr>
                <a:t> lead the market, offering significantly higher entry-level compensation compared to sectors like general manufacturing.</a:t>
              </a:r>
              <a:endParaRPr sz="1360">
                <a:solidFill>
                  <a:srgbClr val="475569"/>
                </a:solidFill>
                <a:latin typeface="Inter"/>
                <a:ea typeface="Inter"/>
                <a:cs typeface="Inter"/>
                <a:sym typeface="Inter"/>
              </a:endParaRPr>
            </a:p>
            <a:p>
              <a:pPr indent="0" lvl="0" marL="0" rtl="0" algn="l">
                <a:spcBef>
                  <a:spcPts val="1125"/>
                </a:spcBef>
                <a:spcAft>
                  <a:spcPts val="0"/>
                </a:spcAft>
                <a:buNone/>
              </a:pPr>
              <a:r>
                <a:rPr lang="en" sz="1360">
                  <a:solidFill>
                    <a:srgbClr val="475569"/>
                  </a:solidFill>
                  <a:latin typeface="Inter"/>
                  <a:ea typeface="Inter"/>
                  <a:cs typeface="Inter"/>
                  <a:sym typeface="Inter"/>
                </a:rPr>
                <a:t>This disparity highlights the importance of strategic career planning and industry research for graduating students.</a:t>
              </a:r>
              <a:endParaRPr sz="1360">
                <a:solidFill>
                  <a:srgbClr val="475569"/>
                </a:solidFill>
                <a:latin typeface="Inter"/>
                <a:ea typeface="Inter"/>
                <a:cs typeface="Inter"/>
                <a:sym typeface="Inter"/>
              </a:endParaRPr>
            </a:p>
          </p:txBody>
        </p:sp>
        <p:pic>
          <p:nvPicPr>
            <p:cNvPr id="168" name="Google Shape;168;p26"/>
            <p:cNvPicPr preferRelativeResize="0"/>
            <p:nvPr/>
          </p:nvPicPr>
          <p:blipFill rotWithShape="1">
            <a:blip r:embed="rId4">
              <a:alphaModFix/>
            </a:blip>
            <a:srcRect b="-5470" l="-7692" r="5942" t="5470"/>
            <a:stretch/>
          </p:blipFill>
          <p:spPr>
            <a:xfrm>
              <a:off x="3787475" y="2150925"/>
              <a:ext cx="4816200" cy="2421000"/>
            </a:xfrm>
            <a:prstGeom prst="roundRect">
              <a:avLst>
                <a:gd fmla="val 2500" name="adj"/>
              </a:avLst>
            </a:prstGeom>
            <a:noFill/>
            <a:ln>
              <a:noFill/>
            </a:ln>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2" name="Shape 172"/>
        <p:cNvGrpSpPr/>
        <p:nvPr/>
      </p:nvGrpSpPr>
      <p:grpSpPr>
        <a:xfrm>
          <a:off x="0" y="0"/>
          <a:ext cx="0" cy="0"/>
          <a:chOff x="0" y="0"/>
          <a:chExt cx="0" cy="0"/>
        </a:xfrm>
      </p:grpSpPr>
      <p:grpSp>
        <p:nvGrpSpPr>
          <p:cNvPr id="173" name="Google Shape;173;p27"/>
          <p:cNvGrpSpPr/>
          <p:nvPr/>
        </p:nvGrpSpPr>
        <p:grpSpPr>
          <a:xfrm>
            <a:off x="0" y="0"/>
            <a:ext cx="9144000" cy="952500"/>
            <a:chOff x="0" y="0"/>
            <a:chExt cx="9144000" cy="952500"/>
          </a:xfrm>
        </p:grpSpPr>
        <p:sp>
          <p:nvSpPr>
            <p:cNvPr id="174" name="Google Shape;174;p27"/>
            <p:cNvSpPr/>
            <p:nvPr/>
          </p:nvSpPr>
          <p:spPr>
            <a:xfrm>
              <a:off x="0" y="0"/>
              <a:ext cx="9144000" cy="9525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27"/>
            <p:cNvSpPr txBox="1"/>
            <p:nvPr/>
          </p:nvSpPr>
          <p:spPr>
            <a:xfrm>
              <a:off x="381000" y="0"/>
              <a:ext cx="8382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200">
                  <a:solidFill>
                    <a:srgbClr val="FFFFFF"/>
                  </a:solidFill>
                  <a:latin typeface="Inter"/>
                  <a:ea typeface="Inter"/>
                  <a:cs typeface="Inter"/>
                  <a:sym typeface="Inter"/>
                </a:rPr>
                <a:t>Placement Rates by National Wealth</a:t>
              </a:r>
              <a:endParaRPr b="1" sz="3200">
                <a:solidFill>
                  <a:srgbClr val="FFFFFF"/>
                </a:solidFill>
                <a:latin typeface="Inter"/>
                <a:ea typeface="Inter"/>
                <a:cs typeface="Inter"/>
                <a:sym typeface="Inter"/>
              </a:endParaRPr>
            </a:p>
          </p:txBody>
        </p:sp>
      </p:grpSp>
      <p:grpSp>
        <p:nvGrpSpPr>
          <p:cNvPr id="176" name="Google Shape;176;p27"/>
          <p:cNvGrpSpPr/>
          <p:nvPr/>
        </p:nvGrpSpPr>
        <p:grpSpPr>
          <a:xfrm>
            <a:off x="381000" y="1238250"/>
            <a:ext cx="8382000" cy="3646763"/>
            <a:chOff x="381000" y="1238250"/>
            <a:chExt cx="8382000" cy="3646763"/>
          </a:xfrm>
        </p:grpSpPr>
        <p:sp>
          <p:nvSpPr>
            <p:cNvPr id="177" name="Google Shape;177;p27"/>
            <p:cNvSpPr/>
            <p:nvPr/>
          </p:nvSpPr>
          <p:spPr>
            <a:xfrm>
              <a:off x="381000" y="1238250"/>
              <a:ext cx="8382000" cy="3619500"/>
            </a:xfrm>
            <a:prstGeom prst="roundRect">
              <a:avLst>
                <a:gd fmla="val 315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8" name="Google Shape;178;p27"/>
            <p:cNvSpPr txBox="1"/>
            <p:nvPr/>
          </p:nvSpPr>
          <p:spPr>
            <a:xfrm>
              <a:off x="666750" y="1524000"/>
              <a:ext cx="8096100" cy="154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1E293B"/>
                  </a:solidFill>
                  <a:latin typeface="Inter SemiBold"/>
                  <a:ea typeface="Inter SemiBold"/>
                  <a:cs typeface="Inter SemiBold"/>
                  <a:sym typeface="Inter SemiBold"/>
                </a:rPr>
                <a:t>Key Insights</a:t>
              </a:r>
              <a:endParaRPr b="0" sz="1400">
                <a:solidFill>
                  <a:srgbClr val="1E293B"/>
                </a:solidFill>
                <a:latin typeface="Inter SemiBold"/>
                <a:ea typeface="Inter SemiBold"/>
                <a:cs typeface="Inter SemiBold"/>
                <a:sym typeface="Inter SemiBold"/>
              </a:endParaRPr>
            </a:p>
            <a:p>
              <a:pPr indent="0" lvl="0" marL="0" rtl="0" algn="l">
                <a:spcBef>
                  <a:spcPts val="1500"/>
                </a:spcBef>
                <a:spcAft>
                  <a:spcPts val="0"/>
                </a:spcAft>
                <a:buNone/>
              </a:pPr>
              <a:r>
                <a:rPr b="0" lang="en" sz="1100">
                  <a:solidFill>
                    <a:srgbClr val="475569"/>
                  </a:solidFill>
                  <a:latin typeface="Inter"/>
                  <a:ea typeface="Inter"/>
                  <a:cs typeface="Inter"/>
                  <a:sym typeface="Inter"/>
                </a:rPr>
                <a:t>Students from high-income nations have a visibly higher volume and proportion of successful job placements.</a:t>
              </a:r>
              <a:endParaRPr b="0" sz="1100">
                <a:solidFill>
                  <a:srgbClr val="475569"/>
                </a:solidFill>
                <a:latin typeface="Inter"/>
                <a:ea typeface="Inter"/>
                <a:cs typeface="Inter"/>
                <a:sym typeface="Inter"/>
              </a:endParaRPr>
            </a:p>
            <a:p>
              <a:pPr indent="0" lvl="0" marL="0" rtl="0" algn="l">
                <a:spcBef>
                  <a:spcPts val="1500"/>
                </a:spcBef>
                <a:spcAft>
                  <a:spcPts val="0"/>
                </a:spcAft>
                <a:buNone/>
              </a:pPr>
              <a:r>
                <a:rPr b="0" lang="en" sz="1100">
                  <a:solidFill>
                    <a:srgbClr val="0F172A"/>
                  </a:solidFill>
                  <a:latin typeface="Inter SemiBold"/>
                  <a:ea typeface="Inter SemiBold"/>
                  <a:cs typeface="Inter SemiBold"/>
                  <a:sym typeface="Inter SemiBold"/>
                </a:rPr>
                <a:t>Where a student originates matters.</a:t>
              </a:r>
              <a:endParaRPr b="0" sz="1100">
                <a:solidFill>
                  <a:srgbClr val="0F172A"/>
                </a:solidFill>
                <a:latin typeface="Inter SemiBold"/>
                <a:ea typeface="Inter SemiBold"/>
                <a:cs typeface="Inter SemiBold"/>
                <a:sym typeface="Inter SemiBold"/>
              </a:endParaRPr>
            </a:p>
            <a:p>
              <a:pPr indent="0" lvl="0" marL="0" rtl="0" algn="l">
                <a:spcBef>
                  <a:spcPts val="1500"/>
                </a:spcBef>
                <a:spcAft>
                  <a:spcPts val="0"/>
                </a:spcAft>
                <a:buNone/>
              </a:pPr>
              <a:r>
                <a:rPr b="0" lang="en" sz="1100">
                  <a:solidFill>
                    <a:srgbClr val="475569"/>
                  </a:solidFill>
                  <a:latin typeface="Inter"/>
                  <a:ea typeface="Inter"/>
                  <a:cs typeface="Inter"/>
                  <a:sym typeface="Inter"/>
                </a:rPr>
                <a:t>This visual highlights the macroeconomic advantage. Students originating from high-income nations have a visibly higher volume and proportion of successful placements, suggesting that GDP per capita is a highly significant factor.</a:t>
              </a:r>
              <a:endParaRPr b="0" sz="1100">
                <a:solidFill>
                  <a:srgbClr val="475569"/>
                </a:solidFill>
                <a:latin typeface="Inter"/>
                <a:ea typeface="Inter"/>
                <a:cs typeface="Inter"/>
                <a:sym typeface="Inter"/>
              </a:endParaRPr>
            </a:p>
          </p:txBody>
        </p:sp>
        <p:pic>
          <p:nvPicPr>
            <p:cNvPr id="179" name="Google Shape;179;p27"/>
            <p:cNvPicPr preferRelativeResize="0"/>
            <p:nvPr/>
          </p:nvPicPr>
          <p:blipFill rotWithShape="1">
            <a:blip r:embed="rId4">
              <a:alphaModFix/>
            </a:blip>
            <a:srcRect b="-1525" l="-7789" r="7929" t="-1525"/>
            <a:stretch/>
          </p:blipFill>
          <p:spPr>
            <a:xfrm>
              <a:off x="1213050" y="3043313"/>
              <a:ext cx="7003500" cy="1841700"/>
            </a:xfrm>
            <a:prstGeom prst="roundRect">
              <a:avLst>
                <a:gd fmla="val 2362" name="adj"/>
              </a:avLst>
            </a:prstGeom>
            <a:noFill/>
            <a:ln>
              <a:noFill/>
            </a:ln>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8"/>
          <p:cNvSpPr txBox="1"/>
          <p:nvPr>
            <p:ph idx="1" type="body"/>
          </p:nvPr>
        </p:nvSpPr>
        <p:spPr>
          <a:xfrm>
            <a:off x="311700" y="1152475"/>
            <a:ext cx="34872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400">
                <a:solidFill>
                  <a:schemeClr val="dk1"/>
                </a:solidFill>
              </a:rPr>
              <a:t>Key Insights</a:t>
            </a:r>
            <a:endParaRPr b="1" sz="1100">
              <a:solidFill>
                <a:schemeClr val="dk1"/>
              </a:solidFill>
            </a:endParaRPr>
          </a:p>
          <a:p>
            <a:pPr indent="0" lvl="0" marL="0" rtl="0" algn="l">
              <a:spcBef>
                <a:spcPts val="1200"/>
              </a:spcBef>
              <a:spcAft>
                <a:spcPts val="0"/>
              </a:spcAft>
              <a:buClr>
                <a:schemeClr val="dk1"/>
              </a:buClr>
              <a:buSzPts val="1100"/>
              <a:buFont typeface="Arial"/>
              <a:buNone/>
            </a:pPr>
            <a:r>
              <a:rPr lang="en" sz="1200">
                <a:solidFill>
                  <a:schemeClr val="dk1"/>
                </a:solidFill>
              </a:rPr>
              <a:t>Students from Tier 1 schools tend to earn more no matter where they’re from.</a:t>
            </a:r>
            <a:br>
              <a:rPr lang="en" sz="1200">
                <a:solidFill>
                  <a:schemeClr val="dk1"/>
                </a:solidFill>
              </a:rPr>
            </a:br>
            <a:r>
              <a:rPr lang="en" sz="1200">
                <a:solidFill>
                  <a:schemeClr val="dk1"/>
                </a:solidFill>
              </a:rPr>
              <a:t>Location still has a strong influence on salary.</a:t>
            </a:r>
            <a:endParaRPr sz="1200">
              <a:solidFill>
                <a:schemeClr val="dk1"/>
              </a:solidFill>
            </a:endParaRPr>
          </a:p>
          <a:p>
            <a:pPr indent="0" lvl="0" marL="0" rtl="0" algn="l">
              <a:spcBef>
                <a:spcPts val="1200"/>
              </a:spcBef>
              <a:spcAft>
                <a:spcPts val="0"/>
              </a:spcAft>
              <a:buClr>
                <a:schemeClr val="dk1"/>
              </a:buClr>
              <a:buSzPts val="1100"/>
              <a:buFont typeface="Arial"/>
              <a:buNone/>
            </a:pPr>
            <a:r>
              <a:rPr lang="en" sz="1200">
                <a:solidFill>
                  <a:schemeClr val="dk1"/>
                </a:solidFill>
              </a:rPr>
              <a:t>This chart shows how school prestige and location work together. Going to a top-tier university helps, but where a student is from still plays a big role in how much they earn, showing that larger economic factors are hard to ignore.</a:t>
            </a:r>
            <a:endParaRPr sz="1200">
              <a:solidFill>
                <a:schemeClr val="dk1"/>
              </a:solidFill>
            </a:endParaRPr>
          </a:p>
          <a:p>
            <a:pPr indent="0" lvl="0" marL="0" rtl="0" algn="l">
              <a:spcBef>
                <a:spcPts val="1200"/>
              </a:spcBef>
              <a:spcAft>
                <a:spcPts val="1200"/>
              </a:spcAft>
              <a:buNone/>
            </a:pPr>
            <a:r>
              <a:t/>
            </a:r>
            <a:endParaRPr/>
          </a:p>
        </p:txBody>
      </p:sp>
      <p:pic>
        <p:nvPicPr>
          <p:cNvPr id="185" name="Google Shape;185;p28"/>
          <p:cNvPicPr preferRelativeResize="0"/>
          <p:nvPr/>
        </p:nvPicPr>
        <p:blipFill>
          <a:blip r:embed="rId3">
            <a:alphaModFix/>
          </a:blip>
          <a:stretch>
            <a:fillRect/>
          </a:stretch>
        </p:blipFill>
        <p:spPr>
          <a:xfrm>
            <a:off x="3798900" y="2250975"/>
            <a:ext cx="5192201" cy="2192675"/>
          </a:xfrm>
          <a:prstGeom prst="rect">
            <a:avLst/>
          </a:prstGeom>
          <a:noFill/>
          <a:ln>
            <a:noFill/>
          </a:ln>
        </p:spPr>
      </p:pic>
      <p:pic>
        <p:nvPicPr>
          <p:cNvPr id="186" name="Google Shape;186;p28" title="Screenshot 2026-04-15 at 8.25.16 PM.png"/>
          <p:cNvPicPr preferRelativeResize="0"/>
          <p:nvPr/>
        </p:nvPicPr>
        <p:blipFill>
          <a:blip r:embed="rId4">
            <a:alphaModFix/>
          </a:blip>
          <a:stretch>
            <a:fillRect/>
          </a:stretch>
        </p:blipFill>
        <p:spPr>
          <a:xfrm>
            <a:off x="3798900" y="1282150"/>
            <a:ext cx="5192201" cy="825025"/>
          </a:xfrm>
          <a:prstGeom prst="rect">
            <a:avLst/>
          </a:prstGeom>
          <a:noFill/>
          <a:ln>
            <a:noFill/>
          </a:ln>
        </p:spPr>
      </p:pic>
      <p:grpSp>
        <p:nvGrpSpPr>
          <p:cNvPr id="187" name="Google Shape;187;p28"/>
          <p:cNvGrpSpPr/>
          <p:nvPr/>
        </p:nvGrpSpPr>
        <p:grpSpPr>
          <a:xfrm>
            <a:off x="0" y="0"/>
            <a:ext cx="9144000" cy="952500"/>
            <a:chOff x="0" y="0"/>
            <a:chExt cx="9144000" cy="952500"/>
          </a:xfrm>
        </p:grpSpPr>
        <p:sp>
          <p:nvSpPr>
            <p:cNvPr id="188" name="Google Shape;188;p28"/>
            <p:cNvSpPr/>
            <p:nvPr/>
          </p:nvSpPr>
          <p:spPr>
            <a:xfrm>
              <a:off x="0" y="0"/>
              <a:ext cx="9144000" cy="9525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28"/>
            <p:cNvSpPr txBox="1"/>
            <p:nvPr/>
          </p:nvSpPr>
          <p:spPr>
            <a:xfrm>
              <a:off x="381000" y="0"/>
              <a:ext cx="8382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200">
                  <a:solidFill>
                    <a:srgbClr val="FFFFFF"/>
                  </a:solidFill>
                  <a:latin typeface="Inter"/>
                  <a:ea typeface="Inter"/>
                  <a:cs typeface="Inter"/>
                  <a:sym typeface="Inter"/>
                </a:rPr>
                <a:t>Salary by College Tier</a:t>
              </a:r>
              <a:endParaRPr b="1" sz="3200">
                <a:solidFill>
                  <a:srgbClr val="FFFFFF"/>
                </a:solidFill>
                <a:latin typeface="Inter"/>
                <a:ea typeface="Inter"/>
                <a:cs typeface="Inter"/>
                <a:sym typeface="Inte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id="194" name="Google Shape;194;p29"/>
          <p:cNvPicPr preferRelativeResize="0"/>
          <p:nvPr/>
        </p:nvPicPr>
        <p:blipFill>
          <a:blip r:embed="rId3">
            <a:alphaModFix/>
          </a:blip>
          <a:stretch>
            <a:fillRect/>
          </a:stretch>
        </p:blipFill>
        <p:spPr>
          <a:xfrm>
            <a:off x="3746000" y="2509950"/>
            <a:ext cx="5244525" cy="2322875"/>
          </a:xfrm>
          <a:prstGeom prst="rect">
            <a:avLst/>
          </a:prstGeom>
          <a:noFill/>
          <a:ln>
            <a:noFill/>
          </a:ln>
        </p:spPr>
      </p:pic>
      <p:pic>
        <p:nvPicPr>
          <p:cNvPr id="195" name="Google Shape;195;p29" title="Screenshot 2026-04-15 at 8.39.20 PM.png"/>
          <p:cNvPicPr preferRelativeResize="0"/>
          <p:nvPr/>
        </p:nvPicPr>
        <p:blipFill>
          <a:blip r:embed="rId4">
            <a:alphaModFix/>
          </a:blip>
          <a:stretch>
            <a:fillRect/>
          </a:stretch>
        </p:blipFill>
        <p:spPr>
          <a:xfrm>
            <a:off x="3746000" y="1475000"/>
            <a:ext cx="5086300" cy="827050"/>
          </a:xfrm>
          <a:prstGeom prst="rect">
            <a:avLst/>
          </a:prstGeom>
          <a:noFill/>
          <a:ln>
            <a:noFill/>
          </a:ln>
        </p:spPr>
      </p:pic>
      <p:grpSp>
        <p:nvGrpSpPr>
          <p:cNvPr id="196" name="Google Shape;196;p29"/>
          <p:cNvGrpSpPr/>
          <p:nvPr/>
        </p:nvGrpSpPr>
        <p:grpSpPr>
          <a:xfrm>
            <a:off x="0" y="0"/>
            <a:ext cx="9144000" cy="952500"/>
            <a:chOff x="0" y="0"/>
            <a:chExt cx="9144000" cy="952500"/>
          </a:xfrm>
        </p:grpSpPr>
        <p:sp>
          <p:nvSpPr>
            <p:cNvPr id="197" name="Google Shape;197;p29"/>
            <p:cNvSpPr/>
            <p:nvPr/>
          </p:nvSpPr>
          <p:spPr>
            <a:xfrm>
              <a:off x="0" y="0"/>
              <a:ext cx="9144000" cy="9525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p29"/>
            <p:cNvSpPr txBox="1"/>
            <p:nvPr/>
          </p:nvSpPr>
          <p:spPr>
            <a:xfrm>
              <a:off x="381000" y="0"/>
              <a:ext cx="8382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200">
                  <a:solidFill>
                    <a:srgbClr val="FFFFFF"/>
                  </a:solidFill>
                  <a:latin typeface="Inter"/>
                  <a:ea typeface="Inter"/>
                  <a:cs typeface="Inter"/>
                  <a:sym typeface="Inter"/>
                </a:rPr>
                <a:t>The Assessment Score </a:t>
              </a:r>
              <a:r>
                <a:rPr b="1" lang="en" sz="3200">
                  <a:solidFill>
                    <a:srgbClr val="FFFFFF"/>
                  </a:solidFill>
                  <a:latin typeface="Inter"/>
                  <a:ea typeface="Inter"/>
                  <a:cs typeface="Inter"/>
                  <a:sym typeface="Inter"/>
                </a:rPr>
                <a:t>Comparisons</a:t>
              </a:r>
              <a:endParaRPr b="1" sz="3200">
                <a:solidFill>
                  <a:srgbClr val="FFFFFF"/>
                </a:solidFill>
                <a:latin typeface="Inter"/>
                <a:ea typeface="Inter"/>
                <a:cs typeface="Inter"/>
                <a:sym typeface="Inter"/>
              </a:endParaRPr>
            </a:p>
          </p:txBody>
        </p:sp>
      </p:grpSp>
      <p:sp>
        <p:nvSpPr>
          <p:cNvPr id="199" name="Google Shape;199;p29"/>
          <p:cNvSpPr txBox="1"/>
          <p:nvPr/>
        </p:nvSpPr>
        <p:spPr>
          <a:xfrm>
            <a:off x="237250" y="1370625"/>
            <a:ext cx="3274200" cy="3230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Key Insights</a:t>
            </a:r>
            <a:br>
              <a:rPr b="1" lang="en" sz="1100">
                <a:solidFill>
                  <a:schemeClr val="dk1"/>
                </a:solidFill>
              </a:rPr>
            </a:br>
            <a:r>
              <a:rPr lang="en" sz="1200">
                <a:solidFill>
                  <a:schemeClr val="dk1"/>
                </a:solidFill>
              </a:rPr>
              <a:t>Students who were placed and not placed have nearly the same CGPA and assessment scores. Academic performance alone doesn’t strongly predict job placement.</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This chart goes against what you might expect. The averages for CGPA and total assessment scores are almost identical for both groups, which supports our Smart PLS results showing that these academic metrics don’t have a significant impact on career outcomes.</a:t>
            </a:r>
            <a:endParaRPr sz="1200">
              <a:solidFill>
                <a:schemeClr val="dk1"/>
              </a:solidFill>
            </a:endParaRPr>
          </a:p>
          <a:p>
            <a:pPr indent="0" lvl="0" marL="0" rtl="0" algn="l">
              <a:spcBef>
                <a:spcPts val="1200"/>
              </a:spcBef>
              <a:spcAft>
                <a:spcPts val="0"/>
              </a:spcAft>
              <a:buNone/>
            </a:pPr>
            <a:r>
              <a:t/>
            </a:r>
            <a:endParaRPr sz="12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0"/>
          <p:cNvSpPr/>
          <p:nvPr/>
        </p:nvSpPr>
        <p:spPr>
          <a:xfrm>
            <a:off x="0" y="0"/>
            <a:ext cx="9144000" cy="9525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5" name="Google Shape;205;p30"/>
          <p:cNvSpPr txBox="1"/>
          <p:nvPr/>
        </p:nvSpPr>
        <p:spPr>
          <a:xfrm>
            <a:off x="381000" y="0"/>
            <a:ext cx="8382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200">
                <a:solidFill>
                  <a:srgbClr val="FFFFFF"/>
                </a:solidFill>
                <a:latin typeface="Inter"/>
                <a:ea typeface="Inter"/>
                <a:cs typeface="Inter"/>
                <a:sym typeface="Inter"/>
              </a:rPr>
              <a:t>Smart PLS Dataoutput </a:t>
            </a:r>
            <a:endParaRPr b="1" sz="3200">
              <a:solidFill>
                <a:srgbClr val="FFFFFF"/>
              </a:solidFill>
              <a:latin typeface="Inter"/>
              <a:ea typeface="Inter"/>
              <a:cs typeface="Inter"/>
              <a:sym typeface="Inter"/>
            </a:endParaRPr>
          </a:p>
        </p:txBody>
      </p:sp>
      <p:pic>
        <p:nvPicPr>
          <p:cNvPr id="206" name="Google Shape;206;p30" title="Screenshot 2026-04-16 at 2.32.39 AM.png"/>
          <p:cNvPicPr preferRelativeResize="0"/>
          <p:nvPr/>
        </p:nvPicPr>
        <p:blipFill>
          <a:blip r:embed="rId3">
            <a:alphaModFix/>
          </a:blip>
          <a:stretch>
            <a:fillRect/>
          </a:stretch>
        </p:blipFill>
        <p:spPr>
          <a:xfrm>
            <a:off x="913400" y="1035525"/>
            <a:ext cx="7213776" cy="4107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1"/>
          <p:cNvSpPr txBox="1"/>
          <p:nvPr>
            <p:ph idx="1" type="body"/>
          </p:nvPr>
        </p:nvSpPr>
        <p:spPr>
          <a:xfrm>
            <a:off x="311700" y="1152475"/>
            <a:ext cx="8520600" cy="3893100"/>
          </a:xfrm>
          <a:prstGeom prst="rect">
            <a:avLst/>
          </a:prstGeom>
        </p:spPr>
        <p:txBody>
          <a:bodyPr anchorCtr="0" anchor="t" bIns="91425" lIns="91425" spcFirstLastPara="1" rIns="91425" wrap="square" tIns="91425">
            <a:normAutofit fontScale="77500" lnSpcReduction="10000"/>
          </a:bodyPr>
          <a:lstStyle/>
          <a:p>
            <a:pPr indent="0" lvl="0" marL="0" rtl="0" algn="l">
              <a:spcBef>
                <a:spcPts val="1200"/>
              </a:spcBef>
              <a:spcAft>
                <a:spcPts val="0"/>
              </a:spcAft>
              <a:buClr>
                <a:schemeClr val="dk1"/>
              </a:buClr>
              <a:buSzPct val="75612"/>
              <a:buFont typeface="Arial"/>
              <a:buNone/>
            </a:pPr>
            <a:r>
              <a:rPr lang="en" sz="1455">
                <a:solidFill>
                  <a:schemeClr val="dk1"/>
                </a:solidFill>
              </a:rPr>
              <a:t>Our model used Academic Performance, Skills, Experience, and Institutional Factors to predict Student Placement outcomes.</a:t>
            </a:r>
            <a:endParaRPr sz="1455">
              <a:solidFill>
                <a:schemeClr val="dk1"/>
              </a:solidFill>
            </a:endParaRPr>
          </a:p>
          <a:p>
            <a:pPr indent="0" lvl="0" marL="0" rtl="0" algn="l">
              <a:spcBef>
                <a:spcPts val="1200"/>
              </a:spcBef>
              <a:spcAft>
                <a:spcPts val="0"/>
              </a:spcAft>
              <a:buClr>
                <a:schemeClr val="dk1"/>
              </a:buClr>
              <a:buSzPct val="75612"/>
              <a:buFont typeface="Arial"/>
              <a:buNone/>
            </a:pPr>
            <a:r>
              <a:rPr lang="en" sz="1455">
                <a:solidFill>
                  <a:schemeClr val="dk1"/>
                </a:solidFill>
              </a:rPr>
              <a:t>The model explained </a:t>
            </a:r>
            <a:r>
              <a:rPr b="1" lang="en" sz="1455">
                <a:solidFill>
                  <a:schemeClr val="dk1"/>
                </a:solidFill>
              </a:rPr>
              <a:t>24.7% of the variation in Placement (R² = 0.247)</a:t>
            </a:r>
            <a:r>
              <a:rPr lang="en" sz="1455">
                <a:solidFill>
                  <a:schemeClr val="dk1"/>
                </a:solidFill>
              </a:rPr>
              <a:t>, showing a moderate level of explanatory power. Among the predictors:</a:t>
            </a:r>
            <a:endParaRPr sz="1455">
              <a:solidFill>
                <a:schemeClr val="dk1"/>
              </a:solidFill>
            </a:endParaRPr>
          </a:p>
          <a:p>
            <a:pPr indent="-300194" lvl="0" marL="457200" rtl="0" algn="l">
              <a:spcBef>
                <a:spcPts val="1200"/>
              </a:spcBef>
              <a:spcAft>
                <a:spcPts val="0"/>
              </a:spcAft>
              <a:buClr>
                <a:schemeClr val="dk1"/>
              </a:buClr>
              <a:buSzPct val="100000"/>
              <a:buChar char="●"/>
            </a:pPr>
            <a:r>
              <a:rPr lang="en" sz="1455">
                <a:solidFill>
                  <a:schemeClr val="dk1"/>
                </a:solidFill>
              </a:rPr>
              <a:t>Academic Performance was the strongest predictor, with a path coefficient of </a:t>
            </a:r>
            <a:r>
              <a:rPr b="1" lang="en" sz="1455">
                <a:solidFill>
                  <a:schemeClr val="dk1"/>
                </a:solidFill>
              </a:rPr>
              <a:t>-0.419</a:t>
            </a:r>
            <a:r>
              <a:rPr lang="en" sz="1455">
                <a:solidFill>
                  <a:schemeClr val="dk1"/>
                </a:solidFill>
              </a:rPr>
              <a:t> and a p-value of </a:t>
            </a:r>
            <a:r>
              <a:rPr b="1" lang="en" sz="1455">
                <a:solidFill>
                  <a:schemeClr val="dk1"/>
                </a:solidFill>
              </a:rPr>
              <a:t>0.000</a:t>
            </a:r>
            <a:r>
              <a:rPr lang="en" sz="1455">
                <a:solidFill>
                  <a:schemeClr val="dk1"/>
                </a:solidFill>
              </a:rPr>
              <a:t>, indicating a statistically significant relationship. Interestingly, this relationship is negative, suggesting that higher academic performance is associated with lower placement outcomes in this dataset. This may be due to how the variables are structured or the influence of other non-academic factors.</a:t>
            </a:r>
            <a:endParaRPr sz="1455">
              <a:solidFill>
                <a:schemeClr val="dk1"/>
              </a:solidFill>
            </a:endParaRPr>
          </a:p>
          <a:p>
            <a:pPr indent="-300194" lvl="0" marL="457200" rtl="0" algn="l">
              <a:spcBef>
                <a:spcPts val="0"/>
              </a:spcBef>
              <a:spcAft>
                <a:spcPts val="0"/>
              </a:spcAft>
              <a:buClr>
                <a:schemeClr val="dk1"/>
              </a:buClr>
              <a:buSzPct val="100000"/>
              <a:buChar char="●"/>
            </a:pPr>
            <a:r>
              <a:rPr lang="en" sz="1455">
                <a:solidFill>
                  <a:schemeClr val="dk1"/>
                </a:solidFill>
              </a:rPr>
              <a:t>Experience had a significant positive effect, with a path coefficient of </a:t>
            </a:r>
            <a:r>
              <a:rPr b="1" lang="en" sz="1455">
                <a:solidFill>
                  <a:schemeClr val="dk1"/>
                </a:solidFill>
              </a:rPr>
              <a:t>0.159</a:t>
            </a:r>
            <a:r>
              <a:rPr lang="en" sz="1455">
                <a:solidFill>
                  <a:schemeClr val="dk1"/>
                </a:solidFill>
              </a:rPr>
              <a:t> and a p-value of </a:t>
            </a:r>
            <a:r>
              <a:rPr b="1" lang="en" sz="1455">
                <a:solidFill>
                  <a:schemeClr val="dk1"/>
                </a:solidFill>
              </a:rPr>
              <a:t>0.000</a:t>
            </a:r>
            <a:r>
              <a:rPr lang="en" sz="1455">
                <a:solidFill>
                  <a:schemeClr val="dk1"/>
                </a:solidFill>
              </a:rPr>
              <a:t>. This indicates that students with more internship experience tend to have a higher likelihood of being placed.</a:t>
            </a:r>
            <a:endParaRPr sz="1455">
              <a:solidFill>
                <a:schemeClr val="dk1"/>
              </a:solidFill>
            </a:endParaRPr>
          </a:p>
          <a:p>
            <a:pPr indent="-300194" lvl="0" marL="457200" rtl="0" algn="l">
              <a:spcBef>
                <a:spcPts val="0"/>
              </a:spcBef>
              <a:spcAft>
                <a:spcPts val="0"/>
              </a:spcAft>
              <a:buClr>
                <a:schemeClr val="dk1"/>
              </a:buClr>
              <a:buSzPct val="100000"/>
              <a:buChar char="●"/>
            </a:pPr>
            <a:r>
              <a:rPr lang="en" sz="1455">
                <a:solidFill>
                  <a:schemeClr val="dk1"/>
                </a:solidFill>
              </a:rPr>
              <a:t>Skills also showed a significant positive relationship with placement, with a path coefficient of </a:t>
            </a:r>
            <a:r>
              <a:rPr b="1" lang="en" sz="1455">
                <a:solidFill>
                  <a:schemeClr val="dk1"/>
                </a:solidFill>
              </a:rPr>
              <a:t>0.133</a:t>
            </a:r>
            <a:r>
              <a:rPr lang="en" sz="1455">
                <a:solidFill>
                  <a:schemeClr val="dk1"/>
                </a:solidFill>
              </a:rPr>
              <a:t> and a p-value of </a:t>
            </a:r>
            <a:r>
              <a:rPr b="1" lang="en" sz="1455">
                <a:solidFill>
                  <a:schemeClr val="dk1"/>
                </a:solidFill>
              </a:rPr>
              <a:t>0.000</a:t>
            </a:r>
            <a:r>
              <a:rPr lang="en" sz="1455">
                <a:solidFill>
                  <a:schemeClr val="dk1"/>
                </a:solidFill>
              </a:rPr>
              <a:t>, suggesting that stronger aptitude and communication skills slightly improve placement chances.</a:t>
            </a:r>
            <a:endParaRPr sz="1455">
              <a:solidFill>
                <a:schemeClr val="dk1"/>
              </a:solidFill>
            </a:endParaRPr>
          </a:p>
          <a:p>
            <a:pPr indent="-300194" lvl="0" marL="457200" rtl="0" algn="l">
              <a:spcBef>
                <a:spcPts val="0"/>
              </a:spcBef>
              <a:spcAft>
                <a:spcPts val="0"/>
              </a:spcAft>
              <a:buClr>
                <a:schemeClr val="dk1"/>
              </a:buClr>
              <a:buSzPct val="100000"/>
              <a:buChar char="●"/>
            </a:pPr>
            <a:r>
              <a:rPr lang="en" sz="1455">
                <a:solidFill>
                  <a:schemeClr val="dk1"/>
                </a:solidFill>
              </a:rPr>
              <a:t>Institutional Factors had a small but significant positive effect, with a path coefficient of </a:t>
            </a:r>
            <a:r>
              <a:rPr b="1" lang="en" sz="1455">
                <a:solidFill>
                  <a:schemeClr val="dk1"/>
                </a:solidFill>
              </a:rPr>
              <a:t>0.113</a:t>
            </a:r>
            <a:r>
              <a:rPr lang="en" sz="1455">
                <a:solidFill>
                  <a:schemeClr val="dk1"/>
                </a:solidFill>
              </a:rPr>
              <a:t> and a p-value of </a:t>
            </a:r>
            <a:r>
              <a:rPr b="1" lang="en" sz="1455">
                <a:solidFill>
                  <a:schemeClr val="dk1"/>
                </a:solidFill>
              </a:rPr>
              <a:t>0.000</a:t>
            </a:r>
            <a:r>
              <a:rPr lang="en" sz="1455">
                <a:solidFill>
                  <a:schemeClr val="dk1"/>
                </a:solidFill>
              </a:rPr>
              <a:t>, meaning that college tier and university ranking have a modest influence on placement outcomes.</a:t>
            </a:r>
            <a:endParaRPr sz="1455">
              <a:solidFill>
                <a:schemeClr val="dk1"/>
              </a:solidFill>
            </a:endParaRPr>
          </a:p>
          <a:p>
            <a:pPr indent="0" lvl="0" marL="0" rtl="0" algn="l">
              <a:spcBef>
                <a:spcPts val="1200"/>
              </a:spcBef>
              <a:spcAft>
                <a:spcPts val="0"/>
              </a:spcAft>
              <a:buClr>
                <a:schemeClr val="dk1"/>
              </a:buClr>
              <a:buSzPct val="75612"/>
              <a:buFont typeface="Arial"/>
              <a:buNone/>
            </a:pPr>
            <a:r>
              <a:rPr lang="en" sz="1455">
                <a:solidFill>
                  <a:schemeClr val="dk1"/>
                </a:solidFill>
              </a:rPr>
              <a:t>Overall, the results suggest that placement is influenced by a combination of academic, skill-based, experiential, and institutional factors, with experience and skills contributing positively, while academic performance shows an unexpected negative relationship in this dataset.</a:t>
            </a:r>
            <a:endParaRPr sz="1455">
              <a:solidFill>
                <a:schemeClr val="dk1"/>
              </a:solidFill>
            </a:endParaRPr>
          </a:p>
          <a:p>
            <a:pPr indent="0" lvl="0" marL="0" rtl="0" algn="l">
              <a:spcBef>
                <a:spcPts val="1200"/>
              </a:spcBef>
              <a:spcAft>
                <a:spcPts val="1200"/>
              </a:spcAft>
              <a:buNone/>
            </a:pPr>
            <a:r>
              <a:t/>
            </a:r>
            <a:endParaRPr/>
          </a:p>
        </p:txBody>
      </p:sp>
      <p:sp>
        <p:nvSpPr>
          <p:cNvPr id="212" name="Google Shape;212;p31"/>
          <p:cNvSpPr/>
          <p:nvPr/>
        </p:nvSpPr>
        <p:spPr>
          <a:xfrm>
            <a:off x="0" y="0"/>
            <a:ext cx="9144000" cy="9525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31"/>
          <p:cNvSpPr txBox="1"/>
          <p:nvPr/>
        </p:nvSpPr>
        <p:spPr>
          <a:xfrm>
            <a:off x="381000" y="0"/>
            <a:ext cx="8382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200">
                <a:solidFill>
                  <a:srgbClr val="FFFFFF"/>
                </a:solidFill>
                <a:latin typeface="Inter"/>
                <a:ea typeface="Inter"/>
                <a:cs typeface="Inter"/>
                <a:sym typeface="Inter"/>
              </a:rPr>
              <a:t>SmartPLS Results</a:t>
            </a:r>
            <a:endParaRPr b="1" sz="3200">
              <a:solidFill>
                <a:srgbClr val="FFFFFF"/>
              </a:solidFill>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19" name="Google Shape;219;p32"/>
          <p:cNvSpPr/>
          <p:nvPr/>
        </p:nvSpPr>
        <p:spPr>
          <a:xfrm>
            <a:off x="0" y="0"/>
            <a:ext cx="9144000" cy="9525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20" name="Google Shape;220;p32"/>
          <p:cNvPicPr preferRelativeResize="0"/>
          <p:nvPr/>
        </p:nvPicPr>
        <p:blipFill>
          <a:blip r:embed="rId3">
            <a:alphaModFix/>
          </a:blip>
          <a:stretch>
            <a:fillRect/>
          </a:stretch>
        </p:blipFill>
        <p:spPr>
          <a:xfrm>
            <a:off x="0" y="0"/>
            <a:ext cx="9144000" cy="5143500"/>
          </a:xfrm>
          <a:prstGeom prst="rect">
            <a:avLst/>
          </a:prstGeom>
          <a:solidFill>
            <a:srgbClr val="1E293B"/>
          </a:solid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